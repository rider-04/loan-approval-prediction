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an end-to-end Machine Learning project to predict loan approvals using real-world banking data. We will walk through the full data science pipeline — from exploration to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process thousands of loan applications daily. The manual process is slow and prone to bias. By building an ML model, we can automate and standardize these decisions — reducing risk while improving customer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4,269 loan applications with 12 features covering applicant financials, demographics, and asset information. The target variable is loan_status — binary classification: Approved or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complete project pipeline: Starting from raw data, we perform data understanding and EDA, then preprocess the data before training multiple ML models. We evaluate, analyze feature importance, and finally deploy via a Streamlit web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revealed key patterns: CIBIL score shows the clearest separation between approved and rejected applicants. Income is right-skewed. Loan amounts cluster in a mid-range. The target variable shows a moderate class imbalance with ~62%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critical to model performance. We removed the ID column, encoded categorical variables into binary values, ensured no duplicates, and split the data strategically using stratified sampling to maintain class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five different classifiers to ensure a thorough comparison. Logistic Regression serves as the baseline. Tree-based models (Decision Tree, Random Forest) and XGBoost are suited for tabular banking data. KNN rounds out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all 5 models across 4 key metrics. Accuracy alone can be misleading on imbalanced data — F1-Score gives a balanced view. Update the XX% values with your actual results after running the notebook. Random Forest and XGBoost typically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reveals which variables drive our model's decisions most. CIBIL Score dominates — it encodes complete credit history. Income and assets follow. This analysis also helps explain the model to stakeholders — critical for trust in financial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 provides a user-friendly interface for the model. Anyone can enter applicant details and receive an instant prediction. Run it with: python -m streamlit run app/streamlit_app.py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value of this project is clear: faster, fairer, more consistent loan decisions at scale. CIBIL score dominance aligns with real-world banking practice — confirming our model's validity. Ensemble methods give the best balance of accuracy and robustness.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successfully built a complete ML solution for loan approval prediction. The model is deployed as an interactive app. Future work focuses on improving performance, explainability, and scaling to production.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C4A"/>
        </a:solidFill>
        <a:effectLst/>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1E2761"/>
          </a:solidFill>
        </p:spPr>
      </p:sp>
      <p:sp>
        <p:nvSpPr>
          <p:cNvPr id="3" name="Shape 1"/>
          <p:cNvSpPr/>
          <p:nvPr/>
        </p:nvSpPr>
        <p:spPr>
          <a:xfrm>
            <a:off x="0" y="0"/>
            <a:ext cx="109728" cy="5143500"/>
          </a:xfrm>
          <a:prstGeom prst="rect">
            <a:avLst/>
          </a:prstGeom>
          <a:solidFill>
            <a:srgbClr val="F5A623"/>
          </a:solidFill>
        </p:spPr>
      </p:sp>
      <p:sp>
        <p:nvSpPr>
          <p:cNvPr id="4" name="Shape 2"/>
          <p:cNvSpPr/>
          <p:nvPr/>
        </p:nvSpPr>
        <p:spPr>
          <a:xfrm>
            <a:off x="6217920" y="-457200"/>
            <a:ext cx="3200400" cy="3200400"/>
          </a:xfrm>
          <a:prstGeom prst="ellipse">
            <a:avLst/>
          </a:prstGeom>
          <a:solidFill>
            <a:srgbClr val="253080"/>
          </a:solidFill>
          <a:ln w="12700">
            <a:solidFill>
              <a:srgbClr val="253080"/>
            </a:solidFill>
            <a:prstDash val="solid"/>
          </a:ln>
        </p:spPr>
      </p:sp>
      <p:sp>
        <p:nvSpPr>
          <p:cNvPr id="5" name="Shape 3"/>
          <p:cNvSpPr/>
          <p:nvPr/>
        </p:nvSpPr>
        <p:spPr>
          <a:xfrm>
            <a:off x="7132320" y="2286000"/>
            <a:ext cx="2011680" cy="2011680"/>
          </a:xfrm>
          <a:prstGeom prst="ellipse">
            <a:avLst/>
          </a:prstGeom>
          <a:solidFill>
            <a:srgbClr val="1E2761"/>
          </a:solidFill>
          <a:ln w="12700">
            <a:solidFill>
              <a:srgbClr val="1E2761"/>
            </a:solidFill>
            <a:prstDash val="solid"/>
          </a:ln>
        </p:spPr>
      </p:sp>
      <p:sp>
        <p:nvSpPr>
          <p:cNvPr id="6" name="Shape 4"/>
          <p:cNvSpPr/>
          <p:nvPr/>
        </p:nvSpPr>
        <p:spPr>
          <a:xfrm>
            <a:off x="5760720" y="3200400"/>
            <a:ext cx="1280160" cy="1280160"/>
          </a:xfrm>
          <a:prstGeom prst="ellipse">
            <a:avLst/>
          </a:prstGeom>
          <a:solidFill>
            <a:srgbClr val="F5A623"/>
          </a:solidFill>
          <a:ln w="12700">
            <a:solidFill>
              <a:srgbClr val="F5A623"/>
            </a:solidFill>
            <a:prstDash val="solid"/>
          </a:ln>
        </p:spPr>
      </p:sp>
      <p:pic>
        <p:nvPicPr>
          <p:cNvPr id="7" name="Image 0" descr="preencoded.png"/>
          <p:cNvPicPr>
            <a:picLocks noChangeAspect="1"/>
          </p:cNvPicPr>
          <p:nvPr/>
        </p:nvPicPr>
        <p:blipFill>
          <a:blip r:embed="rId1"/>
          <a:stretch>
            <a:fillRect/>
          </a:stretch>
        </p:blipFill>
        <p:spPr>
          <a:xfrm>
            <a:off x="6858000" y="1280160"/>
            <a:ext cx="1280160" cy="1280160"/>
          </a:xfrm>
          <a:prstGeom prst="rect">
            <a:avLst/>
          </a:prstGeom>
        </p:spPr>
      </p:pic>
      <p:sp>
        <p:nvSpPr>
          <p:cNvPr id="8" name="Text 5"/>
          <p:cNvSpPr/>
          <p:nvPr/>
        </p:nvSpPr>
        <p:spPr>
          <a:xfrm>
            <a:off x="365760" y="822960"/>
            <a:ext cx="5120640" cy="822960"/>
          </a:xfrm>
          <a:prstGeom prst="rect">
            <a:avLst/>
          </a:prstGeom>
          <a:noFill/>
        </p:spPr>
        <p:txBody>
          <a:bodyPr wrap="square" lIns="0" tIns="0" rIns="0" bIns="0" rtlCol="0" anchor="ctr"/>
          <a:lstStyle/>
          <a:p>
            <a:pPr marL="0" indent="0">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Loan Approval</a:t>
            </a:r>
            <a:endParaRPr lang="en-US" sz="3800" dirty="0"/>
          </a:p>
        </p:txBody>
      </p:sp>
      <p:sp>
        <p:nvSpPr>
          <p:cNvPr id="9" name="Text 6"/>
          <p:cNvSpPr/>
          <p:nvPr/>
        </p:nvSpPr>
        <p:spPr>
          <a:xfrm>
            <a:off x="365760" y="1600200"/>
            <a:ext cx="5120640" cy="822960"/>
          </a:xfrm>
          <a:prstGeom prst="rect">
            <a:avLst/>
          </a:prstGeom>
          <a:noFill/>
        </p:spPr>
        <p:txBody>
          <a:bodyPr wrap="square" lIns="0" tIns="0" rIns="0" bIns="0" rtlCol="0" anchor="ctr"/>
          <a:lstStyle/>
          <a:p>
            <a:pPr marL="0" indent="0">
              <a:buNone/>
            </a:pPr>
            <a:r>
              <a:rPr lang="en-US" sz="3800" b="1" dirty="0">
                <a:solidFill>
                  <a:srgbClr val="F5A623"/>
                </a:solidFill>
                <a:latin typeface="Calibri" panose="020F0502020204030204" pitchFamily="34" charset="0"/>
                <a:ea typeface="Calibri" panose="020F0502020204030204" pitchFamily="34" charset="-122"/>
                <a:cs typeface="Calibri" panose="020F0502020204030204" pitchFamily="34" charset="-120"/>
              </a:rPr>
              <a:t>Prediction</a:t>
            </a:r>
            <a:endParaRPr lang="en-US" sz="3800" dirty="0"/>
          </a:p>
        </p:txBody>
      </p:sp>
      <p:sp>
        <p:nvSpPr>
          <p:cNvPr id="10" name="Text 7"/>
          <p:cNvSpPr/>
          <p:nvPr/>
        </p:nvSpPr>
        <p:spPr>
          <a:xfrm>
            <a:off x="365760" y="2377440"/>
            <a:ext cx="5120640" cy="548640"/>
          </a:xfrm>
          <a:prstGeom prst="rect">
            <a:avLst/>
          </a:prstGeom>
          <a:noFill/>
        </p:spPr>
        <p:txBody>
          <a:bodyPr wrap="square" lIns="0" tIns="0" rIns="0" bIns="0" rtlCol="0" anchor="ctr"/>
          <a:lstStyle/>
          <a:p>
            <a:pPr marL="0" indent="0">
              <a:buNone/>
            </a:pPr>
            <a:r>
              <a:rPr lang="en-US" sz="2000" dirty="0">
                <a:solidFill>
                  <a:srgbClr val="CADCFC"/>
                </a:solidFill>
                <a:latin typeface="Calibri" panose="020F0502020204030204" pitchFamily="34" charset="0"/>
                <a:ea typeface="Calibri" panose="020F0502020204030204" pitchFamily="34" charset="-122"/>
                <a:cs typeface="Calibri" panose="020F0502020204030204" pitchFamily="34" charset="-120"/>
              </a:rPr>
              <a:t>Using Machine Learning</a:t>
            </a:r>
            <a:endParaRPr lang="en-US" sz="2000" dirty="0"/>
          </a:p>
        </p:txBody>
      </p:sp>
      <p:sp>
        <p:nvSpPr>
          <p:cNvPr id="11" name="Shape 8"/>
          <p:cNvSpPr/>
          <p:nvPr/>
        </p:nvSpPr>
        <p:spPr>
          <a:xfrm>
            <a:off x="365760" y="3017520"/>
            <a:ext cx="2286000" cy="36576"/>
          </a:xfrm>
          <a:prstGeom prst="rect">
            <a:avLst/>
          </a:prstGeom>
          <a:solidFill>
            <a:srgbClr val="F5A623"/>
          </a:solidFill>
        </p:spPr>
      </p:sp>
      <p:sp>
        <p:nvSpPr>
          <p:cNvPr id="12" name="Text 9"/>
          <p:cNvSpPr/>
          <p:nvPr/>
        </p:nvSpPr>
        <p:spPr>
          <a:xfrm>
            <a:off x="365760" y="3200400"/>
            <a:ext cx="5120640" cy="411480"/>
          </a:xfrm>
          <a:prstGeom prst="rect">
            <a:avLst/>
          </a:prstGeom>
          <a:noFill/>
        </p:spPr>
        <p:txBody>
          <a:bodyPr wrap="square" lIns="0" tIns="0" rIns="0" bIns="0" rtlCol="0" anchor="ctr"/>
          <a:lstStyle/>
          <a:p>
            <a:pPr marL="0" indent="0">
              <a:buNone/>
            </a:pPr>
            <a:r>
              <a:rPr lang="en-US" sz="1200" i="1" dirty="0">
                <a:solidFill>
                  <a:srgbClr val="CBD5E1"/>
                </a:solidFill>
                <a:latin typeface="Calibri" panose="020F0502020204030204" pitchFamily="34" charset="0"/>
                <a:ea typeface="Calibri" panose="020F0502020204030204" pitchFamily="34" charset="-122"/>
                <a:cs typeface="Calibri" panose="020F0502020204030204" pitchFamily="34" charset="-120"/>
              </a:rPr>
              <a:t>End-to-End Data Analytics &amp; Machine Learning Project</a:t>
            </a:r>
            <a:endParaRPr lang="en-US" sz="1200" dirty="0"/>
          </a:p>
        </p:txBody>
      </p:sp>
      <p:sp>
        <p:nvSpPr>
          <p:cNvPr id="13" name="Text 10"/>
          <p:cNvSpPr/>
          <p:nvPr/>
        </p:nvSpPr>
        <p:spPr>
          <a:xfrm>
            <a:off x="365760" y="3794760"/>
            <a:ext cx="5120640" cy="36576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Prepared by: Parth Sharma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600" dirty="0"/>
          </a:p>
        </p:txBody>
      </p:sp>
      <p:sp>
        <p:nvSpPr>
          <p:cNvPr id="4" name="Shape 2"/>
          <p:cNvSpPr/>
          <p:nvPr/>
        </p:nvSpPr>
        <p:spPr>
          <a:xfrm>
            <a:off x="274320" y="1188720"/>
            <a:ext cx="2743200" cy="3200400"/>
          </a:xfrm>
          <a:prstGeom prst="rect">
            <a:avLst/>
          </a:prstGeom>
          <a:solidFill>
            <a:srgbClr val="F1F4F9"/>
          </a:solidFill>
          <a:effectLst>
            <a:outerShdw blurRad="101600" dist="25400" dir="8100000" algn="bl" rotWithShape="0">
              <a:srgbClr val="000000">
                <a:alpha val="12000"/>
              </a:srgbClr>
            </a:outerShdw>
          </a:effectLst>
        </p:spPr>
      </p:sp>
      <p:sp>
        <p:nvSpPr>
          <p:cNvPr id="5" name="Shape 3"/>
          <p:cNvSpPr/>
          <p:nvPr/>
        </p:nvSpPr>
        <p:spPr>
          <a:xfrm>
            <a:off x="274320" y="1188720"/>
            <a:ext cx="2743200" cy="64008"/>
          </a:xfrm>
          <a:prstGeom prst="rect">
            <a:avLst/>
          </a:prstGeom>
          <a:solidFill>
            <a:srgbClr val="1E2761"/>
          </a:solidFill>
        </p:spPr>
      </p:sp>
      <p:pic>
        <p:nvPicPr>
          <p:cNvPr id="6" name="Image 0" descr="preencoded.png"/>
          <p:cNvPicPr>
            <a:picLocks noChangeAspect="1"/>
          </p:cNvPicPr>
          <p:nvPr/>
        </p:nvPicPr>
        <p:blipFill>
          <a:blip r:embed="rId1"/>
          <a:stretch>
            <a:fillRect/>
          </a:stretch>
        </p:blipFill>
        <p:spPr>
          <a:xfrm>
            <a:off x="1280160" y="1417320"/>
            <a:ext cx="685800" cy="685800"/>
          </a:xfrm>
          <a:prstGeom prst="rect">
            <a:avLst/>
          </a:prstGeom>
        </p:spPr>
      </p:pic>
      <p:sp>
        <p:nvSpPr>
          <p:cNvPr id="7" name="Text 4"/>
          <p:cNvSpPr/>
          <p:nvPr/>
        </p:nvSpPr>
        <p:spPr>
          <a:xfrm>
            <a:off x="411480" y="2194560"/>
            <a:ext cx="2468880" cy="411480"/>
          </a:xfrm>
          <a:prstGeom prst="rect">
            <a:avLst/>
          </a:prstGeom>
          <a:noFill/>
        </p:spPr>
        <p:txBody>
          <a:bodyPr wrap="square" lIns="0" tIns="0" rIns="0" bIns="0" rtlCol="0" anchor="ctr"/>
          <a:lstStyle/>
          <a:p>
            <a:pPr marL="0" indent="0" algn="ctr">
              <a:buNone/>
            </a:pPr>
            <a:r>
              <a:rPr lang="en-US" sz="1400" b="1" dirty="0">
                <a:solidFill>
                  <a:srgbClr val="1E293B"/>
                </a:solidFill>
                <a:latin typeface="Calibri" panose="020F0502020204030204" pitchFamily="34" charset="0"/>
                <a:ea typeface="Calibri" panose="020F0502020204030204" pitchFamily="34" charset="-122"/>
                <a:cs typeface="Calibri" panose="020F0502020204030204" pitchFamily="34" charset="-120"/>
              </a:rPr>
              <a:t>Manual Process</a:t>
            </a:r>
            <a:endParaRPr lang="en-US" sz="1400" dirty="0"/>
          </a:p>
        </p:txBody>
      </p:sp>
      <p:sp>
        <p:nvSpPr>
          <p:cNvPr id="8" name="Text 5"/>
          <p:cNvSpPr/>
          <p:nvPr/>
        </p:nvSpPr>
        <p:spPr>
          <a:xfrm>
            <a:off x="411480" y="2651760"/>
            <a:ext cx="2468880" cy="1554480"/>
          </a:xfrm>
          <a:prstGeom prst="rect">
            <a:avLst/>
          </a:prstGeom>
          <a:noFill/>
        </p:spPr>
        <p:txBody>
          <a:bodyPr wrap="square" lIns="0" tIns="0" rIns="0" bIns="0" rtlCol="0" anchor="ctr"/>
          <a:lstStyle/>
          <a:p>
            <a:pPr marL="0" indent="0" algn="ctr">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Loan decisions rely on human judgment — slow, inconsistent, and prone to bias.</a:t>
            </a:r>
            <a:endParaRPr lang="en-US" sz="1150" dirty="0"/>
          </a:p>
        </p:txBody>
      </p:sp>
      <p:sp>
        <p:nvSpPr>
          <p:cNvPr id="9" name="Shape 6"/>
          <p:cNvSpPr/>
          <p:nvPr/>
        </p:nvSpPr>
        <p:spPr>
          <a:xfrm>
            <a:off x="3227832" y="1188720"/>
            <a:ext cx="2743200" cy="3200400"/>
          </a:xfrm>
          <a:prstGeom prst="rect">
            <a:avLst/>
          </a:prstGeom>
          <a:solidFill>
            <a:srgbClr val="F1F4F9"/>
          </a:solidFill>
          <a:effectLst>
            <a:outerShdw blurRad="101600" dist="25400" dir="8100000" algn="bl" rotWithShape="0">
              <a:srgbClr val="000000">
                <a:alpha val="12000"/>
              </a:srgbClr>
            </a:outerShdw>
          </a:effectLst>
        </p:spPr>
      </p:sp>
      <p:sp>
        <p:nvSpPr>
          <p:cNvPr id="10" name="Shape 7"/>
          <p:cNvSpPr/>
          <p:nvPr/>
        </p:nvSpPr>
        <p:spPr>
          <a:xfrm>
            <a:off x="3227832" y="1188720"/>
            <a:ext cx="2743200" cy="64008"/>
          </a:xfrm>
          <a:prstGeom prst="rect">
            <a:avLst/>
          </a:prstGeom>
          <a:solidFill>
            <a:srgbClr val="E74C3C"/>
          </a:solidFill>
        </p:spPr>
      </p:sp>
      <p:pic>
        <p:nvPicPr>
          <p:cNvPr id="11" name="Image 1" descr="preencoded.png"/>
          <p:cNvPicPr>
            <a:picLocks noChangeAspect="1"/>
          </p:cNvPicPr>
          <p:nvPr/>
        </p:nvPicPr>
        <p:blipFill>
          <a:blip r:embed="rId2"/>
          <a:stretch>
            <a:fillRect/>
          </a:stretch>
        </p:blipFill>
        <p:spPr>
          <a:xfrm>
            <a:off x="4233672" y="1417320"/>
            <a:ext cx="685800" cy="685800"/>
          </a:xfrm>
          <a:prstGeom prst="rect">
            <a:avLst/>
          </a:prstGeom>
        </p:spPr>
      </p:pic>
      <p:sp>
        <p:nvSpPr>
          <p:cNvPr id="12" name="Text 8"/>
          <p:cNvSpPr/>
          <p:nvPr/>
        </p:nvSpPr>
        <p:spPr>
          <a:xfrm>
            <a:off x="3364992" y="2194560"/>
            <a:ext cx="2468880" cy="411480"/>
          </a:xfrm>
          <a:prstGeom prst="rect">
            <a:avLst/>
          </a:prstGeom>
          <a:noFill/>
        </p:spPr>
        <p:txBody>
          <a:bodyPr wrap="square" lIns="0" tIns="0" rIns="0" bIns="0" rtlCol="0" anchor="ctr"/>
          <a:lstStyle/>
          <a:p>
            <a:pPr marL="0" indent="0" algn="ctr">
              <a:buNone/>
            </a:pPr>
            <a:r>
              <a:rPr lang="en-US" sz="1400" b="1" dirty="0">
                <a:solidFill>
                  <a:srgbClr val="1E293B"/>
                </a:solidFill>
                <a:latin typeface="Calibri" panose="020F0502020204030204" pitchFamily="34" charset="0"/>
                <a:ea typeface="Calibri" panose="020F0502020204030204" pitchFamily="34" charset="-122"/>
                <a:cs typeface="Calibri" panose="020F0502020204030204" pitchFamily="34" charset="-120"/>
              </a:rPr>
              <a:t>Financial Risk</a:t>
            </a:r>
            <a:endParaRPr lang="en-US" sz="1400" dirty="0"/>
          </a:p>
        </p:txBody>
      </p:sp>
      <p:sp>
        <p:nvSpPr>
          <p:cNvPr id="13" name="Text 9"/>
          <p:cNvSpPr/>
          <p:nvPr/>
        </p:nvSpPr>
        <p:spPr>
          <a:xfrm>
            <a:off x="3364992" y="2651760"/>
            <a:ext cx="2468880" cy="1554480"/>
          </a:xfrm>
          <a:prstGeom prst="rect">
            <a:avLst/>
          </a:prstGeom>
          <a:noFill/>
        </p:spPr>
        <p:txBody>
          <a:bodyPr wrap="square" lIns="0" tIns="0" rIns="0" bIns="0" rtlCol="0" anchor="ctr"/>
          <a:lstStyle/>
          <a:p>
            <a:pPr marL="0" indent="0" algn="ctr">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Incorrect approvals lead to defaults; rejections mean lost customers and revenue.</a:t>
            </a:r>
            <a:endParaRPr lang="en-US" sz="1150" dirty="0"/>
          </a:p>
        </p:txBody>
      </p:sp>
      <p:sp>
        <p:nvSpPr>
          <p:cNvPr id="14" name="Shape 10"/>
          <p:cNvSpPr/>
          <p:nvPr/>
        </p:nvSpPr>
        <p:spPr>
          <a:xfrm>
            <a:off x="6181344" y="1188720"/>
            <a:ext cx="2743200" cy="3200400"/>
          </a:xfrm>
          <a:prstGeom prst="rect">
            <a:avLst/>
          </a:prstGeom>
          <a:solidFill>
            <a:srgbClr val="F1F4F9"/>
          </a:solidFill>
          <a:effectLst>
            <a:outerShdw blurRad="101600" dist="25400" dir="8100000" algn="bl" rotWithShape="0">
              <a:srgbClr val="000000">
                <a:alpha val="12000"/>
              </a:srgbClr>
            </a:outerShdw>
          </a:effectLst>
        </p:spPr>
      </p:sp>
      <p:sp>
        <p:nvSpPr>
          <p:cNvPr id="15" name="Shape 11"/>
          <p:cNvSpPr/>
          <p:nvPr/>
        </p:nvSpPr>
        <p:spPr>
          <a:xfrm>
            <a:off x="6181344" y="1188720"/>
            <a:ext cx="2743200" cy="64008"/>
          </a:xfrm>
          <a:prstGeom prst="rect">
            <a:avLst/>
          </a:prstGeom>
          <a:solidFill>
            <a:srgbClr val="0891B2"/>
          </a:solidFill>
        </p:spPr>
      </p:sp>
      <p:pic>
        <p:nvPicPr>
          <p:cNvPr id="16" name="Image 2" descr="preencoded.png"/>
          <p:cNvPicPr>
            <a:picLocks noChangeAspect="1"/>
          </p:cNvPicPr>
          <p:nvPr/>
        </p:nvPicPr>
        <p:blipFill>
          <a:blip r:embed="rId3"/>
          <a:stretch>
            <a:fillRect/>
          </a:stretch>
        </p:blipFill>
        <p:spPr>
          <a:xfrm>
            <a:off x="7187184" y="1417320"/>
            <a:ext cx="685800" cy="685800"/>
          </a:xfrm>
          <a:prstGeom prst="rect">
            <a:avLst/>
          </a:prstGeom>
        </p:spPr>
      </p:pic>
      <p:sp>
        <p:nvSpPr>
          <p:cNvPr id="17" name="Text 12"/>
          <p:cNvSpPr/>
          <p:nvPr/>
        </p:nvSpPr>
        <p:spPr>
          <a:xfrm>
            <a:off x="6318504" y="2194560"/>
            <a:ext cx="2468880" cy="411480"/>
          </a:xfrm>
          <a:prstGeom prst="rect">
            <a:avLst/>
          </a:prstGeom>
          <a:noFill/>
        </p:spPr>
        <p:txBody>
          <a:bodyPr wrap="square" lIns="0" tIns="0" rIns="0" bIns="0" rtlCol="0" anchor="ctr"/>
          <a:lstStyle/>
          <a:p>
            <a:pPr marL="0" indent="0" algn="ctr">
              <a:buNone/>
            </a:pPr>
            <a:r>
              <a:rPr lang="en-US" sz="1400" b="1" dirty="0">
                <a:solidFill>
                  <a:srgbClr val="1E293B"/>
                </a:solidFill>
                <a:latin typeface="Calibri" panose="020F0502020204030204" pitchFamily="34" charset="0"/>
                <a:ea typeface="Calibri" panose="020F0502020204030204" pitchFamily="34" charset="-122"/>
                <a:cs typeface="Calibri" panose="020F0502020204030204" pitchFamily="34" charset="-120"/>
              </a:rPr>
              <a:t>Business Need</a:t>
            </a:r>
            <a:endParaRPr lang="en-US" sz="1400" dirty="0"/>
          </a:p>
        </p:txBody>
      </p:sp>
      <p:sp>
        <p:nvSpPr>
          <p:cNvPr id="18" name="Text 13"/>
          <p:cNvSpPr/>
          <p:nvPr/>
        </p:nvSpPr>
        <p:spPr>
          <a:xfrm>
            <a:off x="6318504" y="2651760"/>
            <a:ext cx="2468880" cy="1554480"/>
          </a:xfrm>
          <a:prstGeom prst="rect">
            <a:avLst/>
          </a:prstGeom>
          <a:noFill/>
        </p:spPr>
        <p:txBody>
          <a:bodyPr wrap="square" lIns="0" tIns="0" rIns="0" bIns="0" rtlCol="0" anchor="ctr"/>
          <a:lstStyle/>
          <a:p>
            <a:pPr marL="0" indent="0" algn="ctr">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Automate decisions using ML to improve speed, accuracy, and fairness.</a:t>
            </a:r>
            <a:endParaRPr lang="en-US" sz="1150" dirty="0"/>
          </a:p>
        </p:txBody>
      </p:sp>
      <p:sp>
        <p:nvSpPr>
          <p:cNvPr id="19" name="Shape 14"/>
          <p:cNvSpPr/>
          <p:nvPr/>
        </p:nvSpPr>
        <p:spPr>
          <a:xfrm>
            <a:off x="274320" y="4526280"/>
            <a:ext cx="8595360" cy="502920"/>
          </a:xfrm>
          <a:prstGeom prst="rect">
            <a:avLst/>
          </a:prstGeom>
          <a:solidFill>
            <a:srgbClr val="1E2761"/>
          </a:solidFill>
        </p:spPr>
      </p:sp>
      <p:sp>
        <p:nvSpPr>
          <p:cNvPr id="20" name="Text 15"/>
          <p:cNvSpPr/>
          <p:nvPr/>
        </p:nvSpPr>
        <p:spPr>
          <a:xfrm>
            <a:off x="274320" y="4526280"/>
            <a:ext cx="8595360" cy="502920"/>
          </a:xfrm>
          <a:prstGeom prst="rect">
            <a:avLst/>
          </a:prstGeom>
          <a:noFill/>
        </p:spPr>
        <p:txBody>
          <a:bodyPr wrap="square" lIns="0" tIns="0" rIns="0" bIns="0" rtlCol="0" anchor="ctr"/>
          <a:lstStyle/>
          <a:p>
            <a:pPr marL="0" indent="0" algn="ctr">
              <a:buNone/>
            </a:pPr>
            <a:r>
              <a:rPr lang="en-US" sz="1200" b="1" dirty="0">
                <a:solidFill>
                  <a:srgbClr val="F5A623"/>
                </a:solidFill>
                <a:latin typeface="Calibri" panose="020F0502020204030204" pitchFamily="34" charset="0"/>
                <a:ea typeface="Calibri" panose="020F0502020204030204" pitchFamily="34" charset="-122"/>
                <a:cs typeface="Calibri" panose="020F0502020204030204" pitchFamily="34" charset="-120"/>
              </a:rPr>
              <a:t>🎯  Objective: Predict whether a loan application will be Approved or Rejected using Machine Learning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Dataset Overview</a:t>
            </a:r>
            <a:endParaRPr lang="en-US" sz="2600" dirty="0"/>
          </a:p>
        </p:txBody>
      </p:sp>
      <p:sp>
        <p:nvSpPr>
          <p:cNvPr id="4" name="Shape 2"/>
          <p:cNvSpPr/>
          <p:nvPr/>
        </p:nvSpPr>
        <p:spPr>
          <a:xfrm>
            <a:off x="274320" y="1097280"/>
            <a:ext cx="4114800" cy="3840480"/>
          </a:xfrm>
          <a:prstGeom prst="rect">
            <a:avLst/>
          </a:prstGeom>
          <a:solidFill>
            <a:srgbClr val="F1F4F9"/>
          </a:solidFill>
          <a:effectLst>
            <a:outerShdw blurRad="101600" dist="25400" dir="8100000" algn="bl" rotWithShape="0">
              <a:srgbClr val="000000">
                <a:alpha val="12000"/>
              </a:srgbClr>
            </a:outerShdw>
          </a:effectLst>
        </p:spPr>
      </p:sp>
      <p:sp>
        <p:nvSpPr>
          <p:cNvPr id="5" name="Shape 3"/>
          <p:cNvSpPr/>
          <p:nvPr/>
        </p:nvSpPr>
        <p:spPr>
          <a:xfrm>
            <a:off x="274320" y="1097280"/>
            <a:ext cx="4114800" cy="54864"/>
          </a:xfrm>
          <a:prstGeom prst="rect">
            <a:avLst/>
          </a:prstGeom>
          <a:solidFill>
            <a:srgbClr val="0891B2"/>
          </a:solidFill>
        </p:spPr>
      </p:sp>
      <p:sp>
        <p:nvSpPr>
          <p:cNvPr id="6" name="Text 4"/>
          <p:cNvSpPr/>
          <p:nvPr/>
        </p:nvSpPr>
        <p:spPr>
          <a:xfrm>
            <a:off x="411480" y="1170432"/>
            <a:ext cx="3840480" cy="41148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  Dataset Features</a:t>
            </a:r>
            <a:endParaRPr lang="en-US" sz="1300" dirty="0"/>
          </a:p>
        </p:txBody>
      </p:sp>
      <p:sp>
        <p:nvSpPr>
          <p:cNvPr id="7" name="Text 5"/>
          <p:cNvSpPr/>
          <p:nvPr/>
        </p:nvSpPr>
        <p:spPr>
          <a:xfrm>
            <a:off x="411480" y="1645920"/>
            <a:ext cx="3840480" cy="3108960"/>
          </a:xfrm>
          <a:prstGeom prst="rect">
            <a:avLst/>
          </a:prstGeom>
          <a:noFill/>
        </p:spPr>
        <p:txBody>
          <a:bodyPr wrap="square" lIns="0" tIns="0" rIns="0" bIns="0" rtlCol="0" anchor="ctr"/>
          <a:lstStyle/>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Annual Income</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CIBIL Score (Credit Score)</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Loan Amount</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Loan Term</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Education Level</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Employment Status</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Residential Assets</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Commercial Assets</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Luxury Assets</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Bank Assets</a:t>
            </a:r>
            <a:endParaRPr lang="en-US" sz="1100" dirty="0"/>
          </a:p>
        </p:txBody>
      </p:sp>
      <p:sp>
        <p:nvSpPr>
          <p:cNvPr id="8" name="Shape 6"/>
          <p:cNvSpPr/>
          <p:nvPr/>
        </p:nvSpPr>
        <p:spPr>
          <a:xfrm>
            <a:off x="4663440" y="1097280"/>
            <a:ext cx="1920240" cy="1554480"/>
          </a:xfrm>
          <a:prstGeom prst="rect">
            <a:avLst/>
          </a:prstGeom>
          <a:solidFill>
            <a:srgbClr val="1E2761"/>
          </a:solidFill>
          <a:effectLst>
            <a:outerShdw blurRad="101600" dist="25400" dir="8100000" algn="bl" rotWithShape="0">
              <a:srgbClr val="000000">
                <a:alpha val="12000"/>
              </a:srgbClr>
            </a:outerShdw>
          </a:effectLst>
        </p:spPr>
      </p:sp>
      <p:sp>
        <p:nvSpPr>
          <p:cNvPr id="9" name="Text 7"/>
          <p:cNvSpPr/>
          <p:nvPr/>
        </p:nvSpPr>
        <p:spPr>
          <a:xfrm>
            <a:off x="4663440" y="1371600"/>
            <a:ext cx="1920240" cy="7315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4,269</a:t>
            </a:r>
            <a:endParaRPr lang="en-US" sz="3000" dirty="0"/>
          </a:p>
        </p:txBody>
      </p:sp>
      <p:sp>
        <p:nvSpPr>
          <p:cNvPr id="10" name="Text 8"/>
          <p:cNvSpPr/>
          <p:nvPr/>
        </p:nvSpPr>
        <p:spPr>
          <a:xfrm>
            <a:off x="4663440" y="2103120"/>
            <a:ext cx="1920240" cy="41148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Total Records</a:t>
            </a:r>
            <a:endParaRPr lang="en-US" sz="1000" dirty="0"/>
          </a:p>
        </p:txBody>
      </p:sp>
      <p:sp>
        <p:nvSpPr>
          <p:cNvPr id="11" name="Shape 9"/>
          <p:cNvSpPr/>
          <p:nvPr/>
        </p:nvSpPr>
        <p:spPr>
          <a:xfrm>
            <a:off x="6858000" y="1097280"/>
            <a:ext cx="1920240" cy="1554480"/>
          </a:xfrm>
          <a:prstGeom prst="rect">
            <a:avLst/>
          </a:prstGeom>
          <a:solidFill>
            <a:srgbClr val="0891B2"/>
          </a:solidFill>
          <a:effectLst>
            <a:outerShdw blurRad="101600" dist="25400" dir="8100000" algn="bl" rotWithShape="0">
              <a:srgbClr val="000000">
                <a:alpha val="12000"/>
              </a:srgbClr>
            </a:outerShdw>
          </a:effectLst>
        </p:spPr>
      </p:sp>
      <p:sp>
        <p:nvSpPr>
          <p:cNvPr id="12" name="Text 10"/>
          <p:cNvSpPr/>
          <p:nvPr/>
        </p:nvSpPr>
        <p:spPr>
          <a:xfrm>
            <a:off x="6858000" y="1371600"/>
            <a:ext cx="1920240" cy="7315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3000" dirty="0"/>
          </a:p>
        </p:txBody>
      </p:sp>
      <p:sp>
        <p:nvSpPr>
          <p:cNvPr id="13" name="Text 11"/>
          <p:cNvSpPr/>
          <p:nvPr/>
        </p:nvSpPr>
        <p:spPr>
          <a:xfrm>
            <a:off x="6858000" y="2103120"/>
            <a:ext cx="1920240" cy="41148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Total Features</a:t>
            </a:r>
            <a:endParaRPr lang="en-US" sz="1000" dirty="0"/>
          </a:p>
        </p:txBody>
      </p:sp>
      <p:sp>
        <p:nvSpPr>
          <p:cNvPr id="14" name="Shape 12"/>
          <p:cNvSpPr/>
          <p:nvPr/>
        </p:nvSpPr>
        <p:spPr>
          <a:xfrm>
            <a:off x="4663440" y="2926080"/>
            <a:ext cx="1920240" cy="1554480"/>
          </a:xfrm>
          <a:prstGeom prst="rect">
            <a:avLst/>
          </a:prstGeom>
          <a:solidFill>
            <a:srgbClr val="27AE60"/>
          </a:solidFill>
          <a:effectLst>
            <a:outerShdw blurRad="101600" dist="25400" dir="8100000" algn="bl" rotWithShape="0">
              <a:srgbClr val="000000">
                <a:alpha val="12000"/>
              </a:srgbClr>
            </a:outerShdw>
          </a:effectLst>
        </p:spPr>
      </p:sp>
      <p:sp>
        <p:nvSpPr>
          <p:cNvPr id="15" name="Text 13"/>
          <p:cNvSpPr/>
          <p:nvPr/>
        </p:nvSpPr>
        <p:spPr>
          <a:xfrm>
            <a:off x="4663440" y="3200400"/>
            <a:ext cx="1920240" cy="7315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~62%</a:t>
            </a:r>
            <a:endParaRPr lang="en-US" sz="3000" dirty="0"/>
          </a:p>
        </p:txBody>
      </p:sp>
      <p:sp>
        <p:nvSpPr>
          <p:cNvPr id="16" name="Text 14"/>
          <p:cNvSpPr/>
          <p:nvPr/>
        </p:nvSpPr>
        <p:spPr>
          <a:xfrm>
            <a:off x="4663440" y="3931920"/>
            <a:ext cx="1920240" cy="41148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Approved</a:t>
            </a:r>
            <a:endParaRPr lang="en-US" sz="1000" dirty="0"/>
          </a:p>
        </p:txBody>
      </p:sp>
      <p:sp>
        <p:nvSpPr>
          <p:cNvPr id="17" name="Shape 15"/>
          <p:cNvSpPr/>
          <p:nvPr/>
        </p:nvSpPr>
        <p:spPr>
          <a:xfrm>
            <a:off x="6858000" y="2926080"/>
            <a:ext cx="1920240" cy="1554480"/>
          </a:xfrm>
          <a:prstGeom prst="rect">
            <a:avLst/>
          </a:prstGeom>
          <a:solidFill>
            <a:srgbClr val="E74C3C"/>
          </a:solidFill>
          <a:effectLst>
            <a:outerShdw blurRad="101600" dist="25400" dir="8100000" algn="bl" rotWithShape="0">
              <a:srgbClr val="000000">
                <a:alpha val="12000"/>
              </a:srgbClr>
            </a:outerShdw>
          </a:effectLst>
        </p:spPr>
      </p:sp>
      <p:sp>
        <p:nvSpPr>
          <p:cNvPr id="18" name="Text 16"/>
          <p:cNvSpPr/>
          <p:nvPr/>
        </p:nvSpPr>
        <p:spPr>
          <a:xfrm>
            <a:off x="6858000" y="3200400"/>
            <a:ext cx="1920240" cy="731520"/>
          </a:xfrm>
          <a:prstGeom prst="rect">
            <a:avLst/>
          </a:prstGeom>
          <a:noFill/>
        </p:spPr>
        <p:txBody>
          <a:bodyPr wrap="square" lIns="0" tIns="0" rIns="0" bIns="0" rtlCol="0" anchor="ctr"/>
          <a:lstStyle/>
          <a:p>
            <a:pPr marL="0" indent="0" algn="ctr">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~38%</a:t>
            </a:r>
            <a:endParaRPr lang="en-US" sz="3000" dirty="0"/>
          </a:p>
        </p:txBody>
      </p:sp>
      <p:sp>
        <p:nvSpPr>
          <p:cNvPr id="19" name="Text 17"/>
          <p:cNvSpPr/>
          <p:nvPr/>
        </p:nvSpPr>
        <p:spPr>
          <a:xfrm>
            <a:off x="6858000" y="3931920"/>
            <a:ext cx="1920240" cy="411480"/>
          </a:xfrm>
          <a:prstGeom prst="rect">
            <a:avLst/>
          </a:prstGeom>
          <a:noFill/>
        </p:spPr>
        <p:txBody>
          <a:bodyPr wrap="square" lIns="0" tIns="0" rIns="0" bIns="0"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Rejected</a:t>
            </a:r>
            <a:endParaRPr lang="en-US" sz="1000" dirty="0"/>
          </a:p>
        </p:txBody>
      </p:sp>
      <p:sp>
        <p:nvSpPr>
          <p:cNvPr id="20" name="Shape 18"/>
          <p:cNvSpPr/>
          <p:nvPr/>
        </p:nvSpPr>
        <p:spPr>
          <a:xfrm>
            <a:off x="4663440" y="4663440"/>
            <a:ext cx="4206240" cy="502920"/>
          </a:xfrm>
          <a:prstGeom prst="rect">
            <a:avLst/>
          </a:prstGeom>
          <a:solidFill>
            <a:srgbClr val="F5A623"/>
          </a:solidFill>
        </p:spPr>
      </p:sp>
      <p:sp>
        <p:nvSpPr>
          <p:cNvPr id="21" name="Text 19"/>
          <p:cNvSpPr/>
          <p:nvPr/>
        </p:nvSpPr>
        <p:spPr>
          <a:xfrm>
            <a:off x="4663440" y="4663440"/>
            <a:ext cx="4206240" cy="502920"/>
          </a:xfrm>
          <a:prstGeom prst="rect">
            <a:avLst/>
          </a:prstGeom>
          <a:noFill/>
        </p:spPr>
        <p:txBody>
          <a:bodyPr wrap="square" lIns="0" tIns="0" rIns="0" bIns="0" rtlCol="0" anchor="ctr"/>
          <a:lstStyle/>
          <a:p>
            <a:pPr marL="0" indent="0" algn="ctr">
              <a:buNone/>
            </a:pPr>
            <a:r>
              <a:rPr lang="en-US" sz="1100" b="1" dirty="0">
                <a:solidFill>
                  <a:srgbClr val="141C4A"/>
                </a:solidFill>
                <a:latin typeface="Calibri" panose="020F0502020204030204" pitchFamily="34" charset="0"/>
                <a:ea typeface="Calibri" panose="020F0502020204030204" pitchFamily="34" charset="-122"/>
                <a:cs typeface="Calibri" panose="020F0502020204030204" pitchFamily="34" charset="-120"/>
              </a:rPr>
              <a:t>🎯  Target Variable: loan_status  (Approved / Rejected)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C4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Project Workflow</a:t>
            </a:r>
            <a:endParaRPr lang="en-US" sz="2600" dirty="0"/>
          </a:p>
        </p:txBody>
      </p:sp>
      <p:sp>
        <p:nvSpPr>
          <p:cNvPr id="3" name="Text 1"/>
          <p:cNvSpPr/>
          <p:nvPr/>
        </p:nvSpPr>
        <p:spPr>
          <a:xfrm>
            <a:off x="457200" y="731520"/>
            <a:ext cx="8229600" cy="32004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End-to-End Machine Learning Pipeline</a:t>
            </a:r>
            <a:endParaRPr lang="en-US" sz="1300" dirty="0"/>
          </a:p>
        </p:txBody>
      </p:sp>
      <p:sp>
        <p:nvSpPr>
          <p:cNvPr id="4" name="Shape 2"/>
          <p:cNvSpPr/>
          <p:nvPr/>
        </p:nvSpPr>
        <p:spPr>
          <a:xfrm>
            <a:off x="274320" y="1325880"/>
            <a:ext cx="914400" cy="868680"/>
          </a:xfrm>
          <a:prstGeom prst="rect">
            <a:avLst/>
          </a:prstGeom>
          <a:solidFill>
            <a:srgbClr val="0891B2"/>
          </a:solidFill>
          <a:effectLst>
            <a:outerShdw blurRad="101600" dist="25400" dir="8100000" algn="bl" rotWithShape="0">
              <a:srgbClr val="000000">
                <a:alpha val="12000"/>
              </a:srgbClr>
            </a:outerShdw>
          </a:effectLst>
        </p:spPr>
      </p:sp>
      <p:sp>
        <p:nvSpPr>
          <p:cNvPr id="5" name="Text 3"/>
          <p:cNvSpPr/>
          <p:nvPr/>
        </p:nvSpPr>
        <p:spPr>
          <a:xfrm>
            <a:off x="274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6" name="Text 4"/>
          <p:cNvSpPr/>
          <p:nvPr/>
        </p:nvSpPr>
        <p:spPr>
          <a:xfrm>
            <a:off x="274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Raw Data</a:t>
            </a:r>
            <a:endParaRPr lang="en-US" sz="900" dirty="0"/>
          </a:p>
        </p:txBody>
      </p:sp>
      <p:sp>
        <p:nvSpPr>
          <p:cNvPr id="7" name="Shape 5"/>
          <p:cNvSpPr/>
          <p:nvPr/>
        </p:nvSpPr>
        <p:spPr>
          <a:xfrm>
            <a:off x="1188720" y="1732788"/>
            <a:ext cx="228600" cy="54864"/>
          </a:xfrm>
          <a:prstGeom prst="rect">
            <a:avLst/>
          </a:prstGeom>
          <a:solidFill>
            <a:srgbClr val="F5A623"/>
          </a:solidFill>
        </p:spPr>
      </p:sp>
      <p:sp>
        <p:nvSpPr>
          <p:cNvPr id="8" name="Shape 6"/>
          <p:cNvSpPr/>
          <p:nvPr/>
        </p:nvSpPr>
        <p:spPr>
          <a:xfrm>
            <a:off x="1417320" y="1325880"/>
            <a:ext cx="914400" cy="868680"/>
          </a:xfrm>
          <a:prstGeom prst="rect">
            <a:avLst/>
          </a:prstGeom>
          <a:solidFill>
            <a:srgbClr val="253080"/>
          </a:solidFill>
          <a:effectLst>
            <a:outerShdw blurRad="101600" dist="25400" dir="8100000" algn="bl" rotWithShape="0">
              <a:srgbClr val="000000">
                <a:alpha val="12000"/>
              </a:srgbClr>
            </a:outerShdw>
          </a:effectLst>
        </p:spPr>
      </p:sp>
      <p:sp>
        <p:nvSpPr>
          <p:cNvPr id="9" name="Text 7"/>
          <p:cNvSpPr/>
          <p:nvPr/>
        </p:nvSpPr>
        <p:spPr>
          <a:xfrm>
            <a:off x="1417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0" name="Text 8"/>
          <p:cNvSpPr/>
          <p:nvPr/>
        </p:nvSpPr>
        <p:spPr>
          <a:xfrm>
            <a:off x="1417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Data</a:t>
            </a:r>
            <a:endParaRPr lang="en-US" sz="900" dirty="0"/>
          </a:p>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Understanding</a:t>
            </a:r>
            <a:endParaRPr lang="en-US" sz="900" dirty="0"/>
          </a:p>
        </p:txBody>
      </p:sp>
      <p:sp>
        <p:nvSpPr>
          <p:cNvPr id="11" name="Shape 9"/>
          <p:cNvSpPr/>
          <p:nvPr/>
        </p:nvSpPr>
        <p:spPr>
          <a:xfrm>
            <a:off x="2331720" y="1732788"/>
            <a:ext cx="228600" cy="54864"/>
          </a:xfrm>
          <a:prstGeom prst="rect">
            <a:avLst/>
          </a:prstGeom>
          <a:solidFill>
            <a:srgbClr val="F5A623"/>
          </a:solidFill>
        </p:spPr>
      </p:sp>
      <p:sp>
        <p:nvSpPr>
          <p:cNvPr id="12" name="Shape 10"/>
          <p:cNvSpPr/>
          <p:nvPr/>
        </p:nvSpPr>
        <p:spPr>
          <a:xfrm>
            <a:off x="2560320" y="1325880"/>
            <a:ext cx="914400" cy="868680"/>
          </a:xfrm>
          <a:prstGeom prst="rect">
            <a:avLst/>
          </a:prstGeom>
          <a:solidFill>
            <a:srgbClr val="253080"/>
          </a:solidFill>
          <a:effectLst>
            <a:outerShdw blurRad="101600" dist="25400" dir="8100000" algn="bl" rotWithShape="0">
              <a:srgbClr val="000000">
                <a:alpha val="12000"/>
              </a:srgbClr>
            </a:outerShdw>
          </a:effectLst>
        </p:spPr>
      </p:sp>
      <p:sp>
        <p:nvSpPr>
          <p:cNvPr id="13" name="Text 11"/>
          <p:cNvSpPr/>
          <p:nvPr/>
        </p:nvSpPr>
        <p:spPr>
          <a:xfrm>
            <a:off x="2560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4" name="Text 12"/>
          <p:cNvSpPr/>
          <p:nvPr/>
        </p:nvSpPr>
        <p:spPr>
          <a:xfrm>
            <a:off x="2560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EDA</a:t>
            </a:r>
            <a:endParaRPr lang="en-US" sz="900" dirty="0"/>
          </a:p>
        </p:txBody>
      </p:sp>
      <p:sp>
        <p:nvSpPr>
          <p:cNvPr id="15" name="Shape 13"/>
          <p:cNvSpPr/>
          <p:nvPr/>
        </p:nvSpPr>
        <p:spPr>
          <a:xfrm>
            <a:off x="3474720" y="1732788"/>
            <a:ext cx="228600" cy="54864"/>
          </a:xfrm>
          <a:prstGeom prst="rect">
            <a:avLst/>
          </a:prstGeom>
          <a:solidFill>
            <a:srgbClr val="F5A623"/>
          </a:solidFill>
        </p:spPr>
      </p:sp>
      <p:sp>
        <p:nvSpPr>
          <p:cNvPr id="16" name="Shape 14"/>
          <p:cNvSpPr/>
          <p:nvPr/>
        </p:nvSpPr>
        <p:spPr>
          <a:xfrm>
            <a:off x="3703320" y="1325880"/>
            <a:ext cx="914400" cy="868680"/>
          </a:xfrm>
          <a:prstGeom prst="rect">
            <a:avLst/>
          </a:prstGeom>
          <a:solidFill>
            <a:srgbClr val="253080"/>
          </a:solidFill>
          <a:effectLst>
            <a:outerShdw blurRad="101600" dist="25400" dir="8100000" algn="bl" rotWithShape="0">
              <a:srgbClr val="000000">
                <a:alpha val="12000"/>
              </a:srgbClr>
            </a:outerShdw>
          </a:effectLst>
        </p:spPr>
      </p:sp>
      <p:sp>
        <p:nvSpPr>
          <p:cNvPr id="17" name="Text 15"/>
          <p:cNvSpPr/>
          <p:nvPr/>
        </p:nvSpPr>
        <p:spPr>
          <a:xfrm>
            <a:off x="3703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8" name="Text 16"/>
          <p:cNvSpPr/>
          <p:nvPr/>
        </p:nvSpPr>
        <p:spPr>
          <a:xfrm>
            <a:off x="3703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Preprocessing</a:t>
            </a:r>
            <a:endParaRPr lang="en-US" sz="900" dirty="0"/>
          </a:p>
        </p:txBody>
      </p:sp>
      <p:sp>
        <p:nvSpPr>
          <p:cNvPr id="19" name="Shape 17"/>
          <p:cNvSpPr/>
          <p:nvPr/>
        </p:nvSpPr>
        <p:spPr>
          <a:xfrm>
            <a:off x="4617720" y="1732788"/>
            <a:ext cx="228600" cy="54864"/>
          </a:xfrm>
          <a:prstGeom prst="rect">
            <a:avLst/>
          </a:prstGeom>
          <a:solidFill>
            <a:srgbClr val="F5A623"/>
          </a:solidFill>
        </p:spPr>
      </p:sp>
      <p:sp>
        <p:nvSpPr>
          <p:cNvPr id="20" name="Shape 18"/>
          <p:cNvSpPr/>
          <p:nvPr/>
        </p:nvSpPr>
        <p:spPr>
          <a:xfrm>
            <a:off x="4846320" y="1325880"/>
            <a:ext cx="914400" cy="868680"/>
          </a:xfrm>
          <a:prstGeom prst="rect">
            <a:avLst/>
          </a:prstGeom>
          <a:solidFill>
            <a:srgbClr val="F5A623"/>
          </a:solidFill>
          <a:effectLst>
            <a:outerShdw blurRad="101600" dist="25400" dir="8100000" algn="bl" rotWithShape="0">
              <a:srgbClr val="000000">
                <a:alpha val="12000"/>
              </a:srgbClr>
            </a:outerShdw>
          </a:effectLst>
        </p:spPr>
      </p:sp>
      <p:sp>
        <p:nvSpPr>
          <p:cNvPr id="21" name="Text 19"/>
          <p:cNvSpPr/>
          <p:nvPr/>
        </p:nvSpPr>
        <p:spPr>
          <a:xfrm>
            <a:off x="4846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600" dirty="0"/>
          </a:p>
        </p:txBody>
      </p:sp>
      <p:sp>
        <p:nvSpPr>
          <p:cNvPr id="22" name="Text 20"/>
          <p:cNvSpPr/>
          <p:nvPr/>
        </p:nvSpPr>
        <p:spPr>
          <a:xfrm>
            <a:off x="4846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900" dirty="0"/>
          </a:p>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Training</a:t>
            </a:r>
            <a:endParaRPr lang="en-US" sz="900" dirty="0"/>
          </a:p>
        </p:txBody>
      </p:sp>
      <p:sp>
        <p:nvSpPr>
          <p:cNvPr id="23" name="Shape 21"/>
          <p:cNvSpPr/>
          <p:nvPr/>
        </p:nvSpPr>
        <p:spPr>
          <a:xfrm>
            <a:off x="5760720" y="1732788"/>
            <a:ext cx="228600" cy="54864"/>
          </a:xfrm>
          <a:prstGeom prst="rect">
            <a:avLst/>
          </a:prstGeom>
          <a:solidFill>
            <a:srgbClr val="F5A623"/>
          </a:solidFill>
        </p:spPr>
      </p:sp>
      <p:sp>
        <p:nvSpPr>
          <p:cNvPr id="24" name="Shape 22"/>
          <p:cNvSpPr/>
          <p:nvPr/>
        </p:nvSpPr>
        <p:spPr>
          <a:xfrm>
            <a:off x="5989320" y="1325880"/>
            <a:ext cx="914400" cy="868680"/>
          </a:xfrm>
          <a:prstGeom prst="rect">
            <a:avLst/>
          </a:prstGeom>
          <a:solidFill>
            <a:srgbClr val="F5A623"/>
          </a:solidFill>
          <a:effectLst>
            <a:outerShdw blurRad="101600" dist="25400" dir="8100000" algn="bl" rotWithShape="0">
              <a:srgbClr val="000000">
                <a:alpha val="12000"/>
              </a:srgbClr>
            </a:outerShdw>
          </a:effectLst>
        </p:spPr>
      </p:sp>
      <p:sp>
        <p:nvSpPr>
          <p:cNvPr id="25" name="Text 23"/>
          <p:cNvSpPr/>
          <p:nvPr/>
        </p:nvSpPr>
        <p:spPr>
          <a:xfrm>
            <a:off x="5989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600" dirty="0"/>
          </a:p>
        </p:txBody>
      </p:sp>
      <p:sp>
        <p:nvSpPr>
          <p:cNvPr id="26" name="Text 24"/>
          <p:cNvSpPr/>
          <p:nvPr/>
        </p:nvSpPr>
        <p:spPr>
          <a:xfrm>
            <a:off x="5989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Evaluation</a:t>
            </a:r>
            <a:endParaRPr lang="en-US" sz="900" dirty="0"/>
          </a:p>
        </p:txBody>
      </p:sp>
      <p:sp>
        <p:nvSpPr>
          <p:cNvPr id="27" name="Shape 25"/>
          <p:cNvSpPr/>
          <p:nvPr/>
        </p:nvSpPr>
        <p:spPr>
          <a:xfrm>
            <a:off x="6903720" y="1732788"/>
            <a:ext cx="228600" cy="54864"/>
          </a:xfrm>
          <a:prstGeom prst="rect">
            <a:avLst/>
          </a:prstGeom>
          <a:solidFill>
            <a:srgbClr val="F5A623"/>
          </a:solidFill>
        </p:spPr>
      </p:sp>
      <p:sp>
        <p:nvSpPr>
          <p:cNvPr id="28" name="Shape 26"/>
          <p:cNvSpPr/>
          <p:nvPr/>
        </p:nvSpPr>
        <p:spPr>
          <a:xfrm>
            <a:off x="7132320" y="1325880"/>
            <a:ext cx="914400" cy="868680"/>
          </a:xfrm>
          <a:prstGeom prst="rect">
            <a:avLst/>
          </a:prstGeom>
          <a:solidFill>
            <a:srgbClr val="27AE60"/>
          </a:solidFill>
          <a:effectLst>
            <a:outerShdw blurRad="101600" dist="25400" dir="8100000" algn="bl" rotWithShape="0">
              <a:srgbClr val="000000">
                <a:alpha val="12000"/>
              </a:srgbClr>
            </a:outerShdw>
          </a:effectLst>
        </p:spPr>
      </p:sp>
      <p:sp>
        <p:nvSpPr>
          <p:cNvPr id="29" name="Text 27"/>
          <p:cNvSpPr/>
          <p:nvPr/>
        </p:nvSpPr>
        <p:spPr>
          <a:xfrm>
            <a:off x="7132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600" dirty="0"/>
          </a:p>
        </p:txBody>
      </p:sp>
      <p:sp>
        <p:nvSpPr>
          <p:cNvPr id="30" name="Text 28"/>
          <p:cNvSpPr/>
          <p:nvPr/>
        </p:nvSpPr>
        <p:spPr>
          <a:xfrm>
            <a:off x="7132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a:t>
            </a:r>
            <a:endParaRPr lang="en-US" sz="900" dirty="0"/>
          </a:p>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Importance</a:t>
            </a:r>
            <a:endParaRPr lang="en-US" sz="900" dirty="0"/>
          </a:p>
        </p:txBody>
      </p:sp>
      <p:sp>
        <p:nvSpPr>
          <p:cNvPr id="31" name="Shape 29"/>
          <p:cNvSpPr/>
          <p:nvPr/>
        </p:nvSpPr>
        <p:spPr>
          <a:xfrm>
            <a:off x="8046720" y="1732788"/>
            <a:ext cx="228600" cy="54864"/>
          </a:xfrm>
          <a:prstGeom prst="rect">
            <a:avLst/>
          </a:prstGeom>
          <a:solidFill>
            <a:srgbClr val="F5A623"/>
          </a:solidFill>
        </p:spPr>
      </p:sp>
      <p:sp>
        <p:nvSpPr>
          <p:cNvPr id="32" name="Shape 30"/>
          <p:cNvSpPr/>
          <p:nvPr/>
        </p:nvSpPr>
        <p:spPr>
          <a:xfrm>
            <a:off x="8275320" y="1325880"/>
            <a:ext cx="914400" cy="868680"/>
          </a:xfrm>
          <a:prstGeom prst="rect">
            <a:avLst/>
          </a:prstGeom>
          <a:solidFill>
            <a:srgbClr val="27AE60"/>
          </a:solidFill>
          <a:effectLst>
            <a:outerShdw blurRad="101600" dist="25400" dir="8100000" algn="bl" rotWithShape="0">
              <a:srgbClr val="000000">
                <a:alpha val="12000"/>
              </a:srgbClr>
            </a:outerShdw>
          </a:effectLst>
        </p:spPr>
      </p:sp>
      <p:sp>
        <p:nvSpPr>
          <p:cNvPr id="33" name="Text 31"/>
          <p:cNvSpPr/>
          <p:nvPr/>
        </p:nvSpPr>
        <p:spPr>
          <a:xfrm>
            <a:off x="8275320" y="1362456"/>
            <a:ext cx="914400" cy="29260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600" dirty="0"/>
          </a:p>
        </p:txBody>
      </p:sp>
      <p:sp>
        <p:nvSpPr>
          <p:cNvPr id="34" name="Text 32"/>
          <p:cNvSpPr/>
          <p:nvPr/>
        </p:nvSpPr>
        <p:spPr>
          <a:xfrm>
            <a:off x="8275320" y="1655064"/>
            <a:ext cx="914400" cy="475488"/>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a:t>
            </a:r>
            <a:endParaRPr lang="en-US" sz="900" dirty="0"/>
          </a:p>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Deploy</a:t>
            </a:r>
            <a:endParaRPr lang="en-US" sz="900" dirty="0"/>
          </a:p>
        </p:txBody>
      </p:sp>
      <p:sp>
        <p:nvSpPr>
          <p:cNvPr id="35" name="Text 33"/>
          <p:cNvSpPr/>
          <p:nvPr/>
        </p:nvSpPr>
        <p:spPr>
          <a:xfrm>
            <a:off x="274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CSV dataset</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with 12 features</a:t>
            </a:r>
            <a:endParaRPr lang="en-US" sz="850" dirty="0"/>
          </a:p>
        </p:txBody>
      </p:sp>
      <p:sp>
        <p:nvSpPr>
          <p:cNvPr id="36" name="Text 34"/>
          <p:cNvSpPr/>
          <p:nvPr/>
        </p:nvSpPr>
        <p:spPr>
          <a:xfrm>
            <a:off x="1417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Shape, types,</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missing values</a:t>
            </a:r>
            <a:endParaRPr lang="en-US" sz="850" dirty="0"/>
          </a:p>
        </p:txBody>
      </p:sp>
      <p:sp>
        <p:nvSpPr>
          <p:cNvPr id="37" name="Text 35"/>
          <p:cNvSpPr/>
          <p:nvPr/>
        </p:nvSpPr>
        <p:spPr>
          <a:xfrm>
            <a:off x="2560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Visualize</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distributions</a:t>
            </a:r>
            <a:endParaRPr lang="en-US" sz="850" dirty="0"/>
          </a:p>
        </p:txBody>
      </p:sp>
      <p:sp>
        <p:nvSpPr>
          <p:cNvPr id="38" name="Text 36"/>
          <p:cNvSpPr/>
          <p:nvPr/>
        </p:nvSpPr>
        <p:spPr>
          <a:xfrm>
            <a:off x="3703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Encode, scale,</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train-test split</a:t>
            </a:r>
            <a:endParaRPr lang="en-US" sz="850" dirty="0"/>
          </a:p>
        </p:txBody>
      </p:sp>
      <p:sp>
        <p:nvSpPr>
          <p:cNvPr id="39" name="Text 37"/>
          <p:cNvSpPr/>
          <p:nvPr/>
        </p:nvSpPr>
        <p:spPr>
          <a:xfrm>
            <a:off x="4846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5 ML models</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trained</a:t>
            </a:r>
            <a:endParaRPr lang="en-US" sz="850" dirty="0"/>
          </a:p>
        </p:txBody>
      </p:sp>
      <p:sp>
        <p:nvSpPr>
          <p:cNvPr id="40" name="Text 38"/>
          <p:cNvSpPr/>
          <p:nvPr/>
        </p:nvSpPr>
        <p:spPr>
          <a:xfrm>
            <a:off x="5989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Accuracy,</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F1, Precision</a:t>
            </a:r>
            <a:endParaRPr lang="en-US" sz="850" dirty="0"/>
          </a:p>
        </p:txBody>
      </p:sp>
      <p:sp>
        <p:nvSpPr>
          <p:cNvPr id="41" name="Text 39"/>
          <p:cNvSpPr/>
          <p:nvPr/>
        </p:nvSpPr>
        <p:spPr>
          <a:xfrm>
            <a:off x="7132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Top predictive</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features</a:t>
            </a:r>
            <a:endParaRPr lang="en-US" sz="850" dirty="0"/>
          </a:p>
        </p:txBody>
      </p:sp>
      <p:sp>
        <p:nvSpPr>
          <p:cNvPr id="42" name="Text 40"/>
          <p:cNvSpPr/>
          <p:nvPr/>
        </p:nvSpPr>
        <p:spPr>
          <a:xfrm>
            <a:off x="8275320" y="2377440"/>
            <a:ext cx="914400" cy="685800"/>
          </a:xfrm>
          <a:prstGeom prst="rect">
            <a:avLst/>
          </a:prstGeom>
          <a:noFill/>
        </p:spPr>
        <p:txBody>
          <a:bodyPr wrap="square" lIns="0" tIns="0" rIns="0" bIns="0" rtlCol="0" anchor="ctr"/>
          <a:lstStyle/>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Interactive</a:t>
            </a:r>
            <a:endParaRPr lang="en-US" sz="850" dirty="0"/>
          </a:p>
          <a:p>
            <a:pPr marL="0" indent="0" algn="ctr">
              <a:buNone/>
            </a:pPr>
            <a:r>
              <a:rPr lang="en-US" sz="850" dirty="0">
                <a:solidFill>
                  <a:srgbClr val="CADCFC"/>
                </a:solidFill>
                <a:latin typeface="Calibri" panose="020F0502020204030204" pitchFamily="34" charset="0"/>
                <a:ea typeface="Calibri" panose="020F0502020204030204" pitchFamily="34" charset="-122"/>
                <a:cs typeface="Calibri" panose="020F0502020204030204" pitchFamily="34" charset="-120"/>
              </a:rPr>
              <a:t>web app</a:t>
            </a:r>
            <a:endParaRPr lang="en-US" sz="850" dirty="0"/>
          </a:p>
        </p:txBody>
      </p:sp>
      <p:sp>
        <p:nvSpPr>
          <p:cNvPr id="43" name="Text 41"/>
          <p:cNvSpPr/>
          <p:nvPr/>
        </p:nvSpPr>
        <p:spPr>
          <a:xfrm>
            <a:off x="365760" y="3337560"/>
            <a:ext cx="1371600" cy="365760"/>
          </a:xfrm>
          <a:prstGeom prst="rect">
            <a:avLst/>
          </a:prstGeom>
          <a:noFill/>
        </p:spPr>
        <p:txBody>
          <a:bodyPr wrap="square" lIns="0" tIns="0" rIns="0" bIns="0" rtlCol="0" anchor="ctr"/>
          <a:lstStyle/>
          <a:p>
            <a:pPr marL="0" indent="0">
              <a:buNone/>
            </a:pPr>
            <a:r>
              <a:rPr lang="en-US" sz="1100" b="1" dirty="0">
                <a:solidFill>
                  <a:srgbClr val="F5A623"/>
                </a:solidFill>
                <a:latin typeface="Calibri" panose="020F0502020204030204" pitchFamily="34" charset="0"/>
                <a:ea typeface="Calibri" panose="020F0502020204030204" pitchFamily="34" charset="-122"/>
                <a:cs typeface="Calibri" panose="020F0502020204030204" pitchFamily="34" charset="-120"/>
              </a:rPr>
              <a:t>Tech Stack:</a:t>
            </a:r>
            <a:endParaRPr lang="en-US" sz="1100" dirty="0"/>
          </a:p>
        </p:txBody>
      </p:sp>
      <p:sp>
        <p:nvSpPr>
          <p:cNvPr id="44" name="Shape 42"/>
          <p:cNvSpPr/>
          <p:nvPr/>
        </p:nvSpPr>
        <p:spPr>
          <a:xfrm>
            <a:off x="1737360" y="3337560"/>
            <a:ext cx="1325880" cy="347472"/>
          </a:xfrm>
          <a:prstGeom prst="rect">
            <a:avLst/>
          </a:prstGeom>
          <a:solidFill>
            <a:srgbClr val="253080"/>
          </a:solidFill>
          <a:effectLst>
            <a:outerShdw blurRad="101600" dist="25400" dir="8100000" algn="bl" rotWithShape="0">
              <a:srgbClr val="000000">
                <a:alpha val="12000"/>
              </a:srgbClr>
            </a:outerShdw>
          </a:effectLst>
        </p:spPr>
      </p:sp>
      <p:sp>
        <p:nvSpPr>
          <p:cNvPr id="45" name="Text 43"/>
          <p:cNvSpPr/>
          <p:nvPr/>
        </p:nvSpPr>
        <p:spPr>
          <a:xfrm>
            <a:off x="1737360" y="3337560"/>
            <a:ext cx="1325880"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Pandas &amp; NumPy</a:t>
            </a:r>
            <a:endParaRPr lang="en-US" sz="900" dirty="0"/>
          </a:p>
        </p:txBody>
      </p:sp>
      <p:sp>
        <p:nvSpPr>
          <p:cNvPr id="46" name="Shape 44"/>
          <p:cNvSpPr/>
          <p:nvPr/>
        </p:nvSpPr>
        <p:spPr>
          <a:xfrm>
            <a:off x="3218688" y="3337560"/>
            <a:ext cx="1325880" cy="347472"/>
          </a:xfrm>
          <a:prstGeom prst="rect">
            <a:avLst/>
          </a:prstGeom>
          <a:solidFill>
            <a:srgbClr val="253080"/>
          </a:solidFill>
          <a:effectLst>
            <a:outerShdw blurRad="101600" dist="25400" dir="8100000" algn="bl" rotWithShape="0">
              <a:srgbClr val="000000">
                <a:alpha val="12000"/>
              </a:srgbClr>
            </a:outerShdw>
          </a:effectLst>
        </p:spPr>
      </p:sp>
      <p:sp>
        <p:nvSpPr>
          <p:cNvPr id="47" name="Text 45"/>
          <p:cNvSpPr/>
          <p:nvPr/>
        </p:nvSpPr>
        <p:spPr>
          <a:xfrm>
            <a:off x="3218688" y="3337560"/>
            <a:ext cx="1325880"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Matplotlib &amp; Seaborn</a:t>
            </a:r>
            <a:endParaRPr lang="en-US" sz="900" dirty="0"/>
          </a:p>
        </p:txBody>
      </p:sp>
      <p:sp>
        <p:nvSpPr>
          <p:cNvPr id="48" name="Shape 46"/>
          <p:cNvSpPr/>
          <p:nvPr/>
        </p:nvSpPr>
        <p:spPr>
          <a:xfrm>
            <a:off x="4700016" y="3337560"/>
            <a:ext cx="1325880" cy="347472"/>
          </a:xfrm>
          <a:prstGeom prst="rect">
            <a:avLst/>
          </a:prstGeom>
          <a:solidFill>
            <a:srgbClr val="253080"/>
          </a:solidFill>
          <a:effectLst>
            <a:outerShdw blurRad="101600" dist="25400" dir="8100000" algn="bl" rotWithShape="0">
              <a:srgbClr val="000000">
                <a:alpha val="12000"/>
              </a:srgbClr>
            </a:outerShdw>
          </a:effectLst>
        </p:spPr>
      </p:sp>
      <p:sp>
        <p:nvSpPr>
          <p:cNvPr id="49" name="Text 47"/>
          <p:cNvSpPr/>
          <p:nvPr/>
        </p:nvSpPr>
        <p:spPr>
          <a:xfrm>
            <a:off x="4700016" y="3337560"/>
            <a:ext cx="1325880"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Scikit-learn</a:t>
            </a:r>
            <a:endParaRPr lang="en-US" sz="900" dirty="0"/>
          </a:p>
        </p:txBody>
      </p:sp>
      <p:sp>
        <p:nvSpPr>
          <p:cNvPr id="50" name="Shape 48"/>
          <p:cNvSpPr/>
          <p:nvPr/>
        </p:nvSpPr>
        <p:spPr>
          <a:xfrm>
            <a:off x="6181344" y="3337560"/>
            <a:ext cx="1325880" cy="347472"/>
          </a:xfrm>
          <a:prstGeom prst="rect">
            <a:avLst/>
          </a:prstGeom>
          <a:solidFill>
            <a:srgbClr val="253080"/>
          </a:solidFill>
          <a:effectLst>
            <a:outerShdw blurRad="101600" dist="25400" dir="8100000" algn="bl" rotWithShape="0">
              <a:srgbClr val="000000">
                <a:alpha val="12000"/>
              </a:srgbClr>
            </a:outerShdw>
          </a:effectLst>
        </p:spPr>
      </p:sp>
      <p:sp>
        <p:nvSpPr>
          <p:cNvPr id="51" name="Text 49"/>
          <p:cNvSpPr/>
          <p:nvPr/>
        </p:nvSpPr>
        <p:spPr>
          <a:xfrm>
            <a:off x="6181344" y="3337560"/>
            <a:ext cx="1325880"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XGBoost</a:t>
            </a:r>
            <a:endParaRPr lang="en-US" sz="900" dirty="0"/>
          </a:p>
        </p:txBody>
      </p:sp>
      <p:sp>
        <p:nvSpPr>
          <p:cNvPr id="52" name="Shape 50"/>
          <p:cNvSpPr/>
          <p:nvPr/>
        </p:nvSpPr>
        <p:spPr>
          <a:xfrm>
            <a:off x="7662672" y="3337560"/>
            <a:ext cx="1325880" cy="347472"/>
          </a:xfrm>
          <a:prstGeom prst="rect">
            <a:avLst/>
          </a:prstGeom>
          <a:solidFill>
            <a:srgbClr val="253080"/>
          </a:solidFill>
          <a:effectLst>
            <a:outerShdw blurRad="101600" dist="25400" dir="8100000" algn="bl" rotWithShape="0">
              <a:srgbClr val="000000">
                <a:alpha val="12000"/>
              </a:srgbClr>
            </a:outerShdw>
          </a:effectLst>
        </p:spPr>
      </p:sp>
      <p:sp>
        <p:nvSpPr>
          <p:cNvPr id="53" name="Text 51"/>
          <p:cNvSpPr/>
          <p:nvPr/>
        </p:nvSpPr>
        <p:spPr>
          <a:xfrm>
            <a:off x="7662672" y="3337560"/>
            <a:ext cx="1325880" cy="347472"/>
          </a:xfrm>
          <a:prstGeom prst="rect">
            <a:avLst/>
          </a:prstGeom>
          <a:noFill/>
        </p:spPr>
        <p:txBody>
          <a:bodyPr wrap="square" lIns="0" tIns="0" rIns="0" bIns="0" rtlCol="0" anchor="ctr"/>
          <a:lstStyle/>
          <a:p>
            <a:pPr marL="0" indent="0" algn="ctr">
              <a:buNone/>
            </a:pPr>
            <a:r>
              <a:rPr lang="en-US" sz="900"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Exploratory Data Analysis (EDA)</a:t>
            </a:r>
            <a:endParaRPr lang="en-US" sz="2400" dirty="0"/>
          </a:p>
        </p:txBody>
      </p:sp>
      <p:sp>
        <p:nvSpPr>
          <p:cNvPr id="4" name="Shape 2"/>
          <p:cNvSpPr/>
          <p:nvPr/>
        </p:nvSpPr>
        <p:spPr>
          <a:xfrm>
            <a:off x="274320" y="1143000"/>
            <a:ext cx="4160520" cy="169164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5" name="Shape 3"/>
          <p:cNvSpPr/>
          <p:nvPr/>
        </p:nvSpPr>
        <p:spPr>
          <a:xfrm>
            <a:off x="274320" y="1143000"/>
            <a:ext cx="4160520" cy="54864"/>
          </a:xfrm>
          <a:prstGeom prst="rect">
            <a:avLst/>
          </a:prstGeom>
          <a:solidFill>
            <a:srgbClr val="0891B2"/>
          </a:solidFill>
        </p:spPr>
      </p:sp>
      <p:sp>
        <p:nvSpPr>
          <p:cNvPr id="6" name="Text 4"/>
          <p:cNvSpPr/>
          <p:nvPr/>
        </p:nvSpPr>
        <p:spPr>
          <a:xfrm>
            <a:off x="365760" y="1234440"/>
            <a:ext cx="393192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Loan Status Distribution</a:t>
            </a:r>
            <a:endParaRPr lang="en-US" sz="1100" dirty="0"/>
          </a:p>
        </p:txBody>
      </p:sp>
      <p:sp>
        <p:nvSpPr>
          <p:cNvPr id="7" name="Text 5"/>
          <p:cNvSpPr/>
          <p:nvPr/>
        </p:nvSpPr>
        <p:spPr>
          <a:xfrm>
            <a:off x="365760" y="1600200"/>
            <a:ext cx="3931920" cy="73152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Chart Placeholder — Insert Screenshot Here ]</a:t>
            </a:r>
            <a:endParaRPr lang="en-US" sz="1000" dirty="0"/>
          </a:p>
        </p:txBody>
      </p:sp>
      <p:sp>
        <p:nvSpPr>
          <p:cNvPr id="8" name="Text 6"/>
          <p:cNvSpPr/>
          <p:nvPr/>
        </p:nvSpPr>
        <p:spPr>
          <a:xfrm>
            <a:off x="365760" y="2468880"/>
            <a:ext cx="3931920" cy="292608"/>
          </a:xfrm>
          <a:prstGeom prst="rect">
            <a:avLst/>
          </a:prstGeom>
          <a:noFill/>
        </p:spPr>
        <p:txBody>
          <a:bodyPr wrap="square" lIns="0" tIns="0" rIns="0" bIns="0" rtlCol="0" anchor="ctr"/>
          <a:lstStyle/>
          <a:p>
            <a:pPr marL="0" indent="0">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 ~62% Approved, ~38% Rejected</a:t>
            </a:r>
            <a:endParaRPr lang="en-US" sz="950" dirty="0"/>
          </a:p>
        </p:txBody>
      </p:sp>
      <p:sp>
        <p:nvSpPr>
          <p:cNvPr id="9" name="Shape 7"/>
          <p:cNvSpPr/>
          <p:nvPr/>
        </p:nvSpPr>
        <p:spPr>
          <a:xfrm>
            <a:off x="4709160" y="1143000"/>
            <a:ext cx="4160520" cy="169164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10" name="Shape 8"/>
          <p:cNvSpPr/>
          <p:nvPr/>
        </p:nvSpPr>
        <p:spPr>
          <a:xfrm>
            <a:off x="4709160" y="1143000"/>
            <a:ext cx="4160520" cy="54864"/>
          </a:xfrm>
          <a:prstGeom prst="rect">
            <a:avLst/>
          </a:prstGeom>
          <a:solidFill>
            <a:srgbClr val="0891B2"/>
          </a:solidFill>
        </p:spPr>
      </p:sp>
      <p:sp>
        <p:nvSpPr>
          <p:cNvPr id="11" name="Text 9"/>
          <p:cNvSpPr/>
          <p:nvPr/>
        </p:nvSpPr>
        <p:spPr>
          <a:xfrm>
            <a:off x="4800600" y="1234440"/>
            <a:ext cx="393192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CIBIL Score Distribution</a:t>
            </a:r>
            <a:endParaRPr lang="en-US" sz="1100" dirty="0"/>
          </a:p>
        </p:txBody>
      </p:sp>
      <p:sp>
        <p:nvSpPr>
          <p:cNvPr id="12" name="Text 10"/>
          <p:cNvSpPr/>
          <p:nvPr/>
        </p:nvSpPr>
        <p:spPr>
          <a:xfrm>
            <a:off x="4800600" y="1600200"/>
            <a:ext cx="3931920" cy="73152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Chart Placeholder — Insert Screenshot Here ]</a:t>
            </a:r>
            <a:endParaRPr lang="en-US" sz="1000" dirty="0"/>
          </a:p>
        </p:txBody>
      </p:sp>
      <p:sp>
        <p:nvSpPr>
          <p:cNvPr id="13" name="Text 11"/>
          <p:cNvSpPr/>
          <p:nvPr/>
        </p:nvSpPr>
        <p:spPr>
          <a:xfrm>
            <a:off x="4800600" y="2468880"/>
            <a:ext cx="3931920" cy="292608"/>
          </a:xfrm>
          <a:prstGeom prst="rect">
            <a:avLst/>
          </a:prstGeom>
          <a:noFill/>
        </p:spPr>
        <p:txBody>
          <a:bodyPr wrap="square" lIns="0" tIns="0" rIns="0" bIns="0" rtlCol="0" anchor="ctr"/>
          <a:lstStyle/>
          <a:p>
            <a:pPr marL="0" indent="0">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 Clear bimodal separation</a:t>
            </a:r>
            <a:endParaRPr lang="en-US" sz="950" dirty="0"/>
          </a:p>
        </p:txBody>
      </p:sp>
      <p:sp>
        <p:nvSpPr>
          <p:cNvPr id="14" name="Shape 12"/>
          <p:cNvSpPr/>
          <p:nvPr/>
        </p:nvSpPr>
        <p:spPr>
          <a:xfrm>
            <a:off x="274320" y="3063240"/>
            <a:ext cx="4160520" cy="169164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15" name="Shape 13"/>
          <p:cNvSpPr/>
          <p:nvPr/>
        </p:nvSpPr>
        <p:spPr>
          <a:xfrm>
            <a:off x="274320" y="3063240"/>
            <a:ext cx="4160520" cy="54864"/>
          </a:xfrm>
          <a:prstGeom prst="rect">
            <a:avLst/>
          </a:prstGeom>
          <a:solidFill>
            <a:srgbClr val="0891B2"/>
          </a:solidFill>
        </p:spPr>
      </p:sp>
      <p:sp>
        <p:nvSpPr>
          <p:cNvPr id="16" name="Text 14"/>
          <p:cNvSpPr/>
          <p:nvPr/>
        </p:nvSpPr>
        <p:spPr>
          <a:xfrm>
            <a:off x="365760" y="3154680"/>
            <a:ext cx="393192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Income Distribution</a:t>
            </a:r>
            <a:endParaRPr lang="en-US" sz="1100" dirty="0"/>
          </a:p>
        </p:txBody>
      </p:sp>
      <p:sp>
        <p:nvSpPr>
          <p:cNvPr id="17" name="Text 15"/>
          <p:cNvSpPr/>
          <p:nvPr/>
        </p:nvSpPr>
        <p:spPr>
          <a:xfrm>
            <a:off x="365760" y="3520440"/>
            <a:ext cx="3931920" cy="73152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Chart Placeholder — Insert Screenshot Here ]</a:t>
            </a:r>
            <a:endParaRPr lang="en-US" sz="1000" dirty="0"/>
          </a:p>
        </p:txBody>
      </p:sp>
      <p:sp>
        <p:nvSpPr>
          <p:cNvPr id="18" name="Text 16"/>
          <p:cNvSpPr/>
          <p:nvPr/>
        </p:nvSpPr>
        <p:spPr>
          <a:xfrm>
            <a:off x="365760" y="4389120"/>
            <a:ext cx="3931920" cy="292608"/>
          </a:xfrm>
          <a:prstGeom prst="rect">
            <a:avLst/>
          </a:prstGeom>
          <a:noFill/>
        </p:spPr>
        <p:txBody>
          <a:bodyPr wrap="square" lIns="0" tIns="0" rIns="0" bIns="0" rtlCol="0" anchor="ctr"/>
          <a:lstStyle/>
          <a:p>
            <a:pPr marL="0" indent="0">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 Right-skewed distribution</a:t>
            </a:r>
            <a:endParaRPr lang="en-US" sz="950" dirty="0"/>
          </a:p>
        </p:txBody>
      </p:sp>
      <p:sp>
        <p:nvSpPr>
          <p:cNvPr id="19" name="Shape 17"/>
          <p:cNvSpPr/>
          <p:nvPr/>
        </p:nvSpPr>
        <p:spPr>
          <a:xfrm>
            <a:off x="4709160" y="3063240"/>
            <a:ext cx="4160520" cy="169164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20" name="Shape 18"/>
          <p:cNvSpPr/>
          <p:nvPr/>
        </p:nvSpPr>
        <p:spPr>
          <a:xfrm>
            <a:off x="4709160" y="3063240"/>
            <a:ext cx="4160520" cy="54864"/>
          </a:xfrm>
          <a:prstGeom prst="rect">
            <a:avLst/>
          </a:prstGeom>
          <a:solidFill>
            <a:srgbClr val="0891B2"/>
          </a:solidFill>
        </p:spPr>
      </p:sp>
      <p:sp>
        <p:nvSpPr>
          <p:cNvPr id="21" name="Text 19"/>
          <p:cNvSpPr/>
          <p:nvPr/>
        </p:nvSpPr>
        <p:spPr>
          <a:xfrm>
            <a:off x="4800600" y="3154680"/>
            <a:ext cx="393192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Loan Amount Distribution</a:t>
            </a:r>
            <a:endParaRPr lang="en-US" sz="1100" dirty="0"/>
          </a:p>
        </p:txBody>
      </p:sp>
      <p:sp>
        <p:nvSpPr>
          <p:cNvPr id="22" name="Text 20"/>
          <p:cNvSpPr/>
          <p:nvPr/>
        </p:nvSpPr>
        <p:spPr>
          <a:xfrm>
            <a:off x="4800600" y="3520440"/>
            <a:ext cx="3931920" cy="73152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Chart Placeholder — Insert Screenshot Here ]</a:t>
            </a:r>
            <a:endParaRPr lang="en-US" sz="1000" dirty="0"/>
          </a:p>
        </p:txBody>
      </p:sp>
      <p:sp>
        <p:nvSpPr>
          <p:cNvPr id="23" name="Text 21"/>
          <p:cNvSpPr/>
          <p:nvPr/>
        </p:nvSpPr>
        <p:spPr>
          <a:xfrm>
            <a:off x="4800600" y="4389120"/>
            <a:ext cx="3931920" cy="292608"/>
          </a:xfrm>
          <a:prstGeom prst="rect">
            <a:avLst/>
          </a:prstGeom>
          <a:noFill/>
        </p:spPr>
        <p:txBody>
          <a:bodyPr wrap="square" lIns="0" tIns="0" rIns="0" bIns="0" rtlCol="0" anchor="ctr"/>
          <a:lstStyle/>
          <a:p>
            <a:pPr marL="0" indent="0">
              <a:buNone/>
            </a:pPr>
            <a:r>
              <a:rPr lang="en-US" sz="950" b="1" dirty="0">
                <a:solidFill>
                  <a:srgbClr val="0891B2"/>
                </a:solidFill>
                <a:latin typeface="Calibri" panose="020F0502020204030204" pitchFamily="34" charset="0"/>
                <a:ea typeface="Calibri" panose="020F0502020204030204" pitchFamily="34" charset="-122"/>
                <a:cs typeface="Calibri" panose="020F0502020204030204" pitchFamily="34" charset="-120"/>
              </a:rPr>
              <a:t>📝 Concentrated in mid-range</a:t>
            </a:r>
            <a:endParaRPr lang="en-US" sz="950" dirty="0"/>
          </a:p>
        </p:txBody>
      </p:sp>
      <p:sp>
        <p:nvSpPr>
          <p:cNvPr id="24" name="Shape 22"/>
          <p:cNvSpPr/>
          <p:nvPr/>
        </p:nvSpPr>
        <p:spPr>
          <a:xfrm>
            <a:off x="274320" y="4709160"/>
            <a:ext cx="8595360" cy="347472"/>
          </a:xfrm>
          <a:prstGeom prst="rect">
            <a:avLst/>
          </a:prstGeom>
          <a:solidFill>
            <a:srgbClr val="E8EFFD"/>
          </a:solidFill>
        </p:spPr>
      </p:sp>
      <p:sp>
        <p:nvSpPr>
          <p:cNvPr id="25" name="Text 23"/>
          <p:cNvSpPr/>
          <p:nvPr/>
        </p:nvSpPr>
        <p:spPr>
          <a:xfrm>
            <a:off x="274320" y="4709160"/>
            <a:ext cx="8595360" cy="347472"/>
          </a:xfrm>
          <a:prstGeom prst="rect">
            <a:avLst/>
          </a:prstGeom>
          <a:noFill/>
        </p:spPr>
        <p:txBody>
          <a:bodyPr wrap="square" lIns="0" tIns="0" rIns="0" bIns="0" rtlCol="0" anchor="ctr"/>
          <a:lstStyle/>
          <a:p>
            <a:pPr marL="0" indent="0" algn="ctr">
              <a:buNone/>
            </a:pPr>
            <a:r>
              <a:rPr lang="en-US" sz="10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Observations:  Higher CIBIL scores → Higher approval rate  |  Higher income → Better approval chances  |  Assets improve eligibility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Preprocessing</a:t>
            </a:r>
            <a:endParaRPr lang="en-US" sz="2600" dirty="0"/>
          </a:p>
        </p:txBody>
      </p:sp>
      <p:sp>
        <p:nvSpPr>
          <p:cNvPr id="4" name="Shape 2"/>
          <p:cNvSpPr/>
          <p:nvPr/>
        </p:nvSpPr>
        <p:spPr>
          <a:xfrm>
            <a:off x="274320" y="1097280"/>
            <a:ext cx="8595360" cy="658368"/>
          </a:xfrm>
          <a:prstGeom prst="rect">
            <a:avLst/>
          </a:prstGeom>
          <a:solidFill>
            <a:srgbClr val="F1F4F9"/>
          </a:solidFill>
          <a:effectLst>
            <a:outerShdw blurRad="101600" dist="25400" dir="8100000" algn="bl" rotWithShape="0">
              <a:srgbClr val="000000">
                <a:alpha val="12000"/>
              </a:srgbClr>
            </a:outerShdw>
          </a:effectLst>
        </p:spPr>
      </p:sp>
      <p:sp>
        <p:nvSpPr>
          <p:cNvPr id="5" name="Shape 3"/>
          <p:cNvSpPr/>
          <p:nvPr/>
        </p:nvSpPr>
        <p:spPr>
          <a:xfrm>
            <a:off x="274320" y="1097280"/>
            <a:ext cx="685800" cy="658368"/>
          </a:xfrm>
          <a:prstGeom prst="rect">
            <a:avLst/>
          </a:prstGeom>
          <a:solidFill>
            <a:srgbClr val="0891B2"/>
          </a:solidFill>
        </p:spPr>
      </p:sp>
      <p:sp>
        <p:nvSpPr>
          <p:cNvPr id="6" name="Text 4"/>
          <p:cNvSpPr/>
          <p:nvPr/>
        </p:nvSpPr>
        <p:spPr>
          <a:xfrm>
            <a:off x="274320" y="1097280"/>
            <a:ext cx="685800" cy="65836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600" dirty="0"/>
          </a:p>
        </p:txBody>
      </p:sp>
      <p:sp>
        <p:nvSpPr>
          <p:cNvPr id="7" name="Text 5"/>
          <p:cNvSpPr/>
          <p:nvPr/>
        </p:nvSpPr>
        <p:spPr>
          <a:xfrm>
            <a:off x="1097280" y="1170432"/>
            <a:ext cx="3200400" cy="274320"/>
          </a:xfrm>
          <a:prstGeom prst="rect">
            <a:avLst/>
          </a:prstGeom>
          <a:noFill/>
        </p:spPr>
        <p:txBody>
          <a:bodyPr wrap="square" lIns="0" tIns="0" rIns="0" bIns="0" rtlCol="0" anchor="ctr"/>
          <a:lstStyle/>
          <a:p>
            <a:pPr marL="0" indent="0">
              <a:buNone/>
            </a:pPr>
            <a:r>
              <a:rPr lang="en-US" sz="1300" b="1" dirty="0">
                <a:solidFill>
                  <a:srgbClr val="1E293B"/>
                </a:solidFill>
                <a:latin typeface="Calibri" panose="020F0502020204030204" pitchFamily="34" charset="0"/>
                <a:ea typeface="Calibri" panose="020F0502020204030204" pitchFamily="34" charset="-122"/>
                <a:cs typeface="Calibri" panose="020F0502020204030204" pitchFamily="34" charset="-120"/>
              </a:rPr>
              <a:t>Remove ID Columns</a:t>
            </a:r>
            <a:endParaRPr lang="en-US" sz="1300" dirty="0"/>
          </a:p>
        </p:txBody>
      </p:sp>
      <p:sp>
        <p:nvSpPr>
          <p:cNvPr id="8" name="Text 6"/>
          <p:cNvSpPr/>
          <p:nvPr/>
        </p:nvSpPr>
        <p:spPr>
          <a:xfrm>
            <a:off x="1097280" y="1444752"/>
            <a:ext cx="7498080" cy="22860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Dropped non-informative loan_id column</a:t>
            </a:r>
            <a:endParaRPr lang="en-US" sz="1050" dirty="0"/>
          </a:p>
        </p:txBody>
      </p:sp>
      <p:sp>
        <p:nvSpPr>
          <p:cNvPr id="9" name="Shape 7"/>
          <p:cNvSpPr/>
          <p:nvPr/>
        </p:nvSpPr>
        <p:spPr>
          <a:xfrm>
            <a:off x="274320" y="1865376"/>
            <a:ext cx="8595360" cy="658368"/>
          </a:xfrm>
          <a:prstGeom prst="rect">
            <a:avLst/>
          </a:prstGeom>
          <a:solidFill>
            <a:srgbClr val="FFFFFF"/>
          </a:solidFill>
          <a:effectLst>
            <a:outerShdw blurRad="101600" dist="25400" dir="8100000" algn="bl" rotWithShape="0">
              <a:srgbClr val="000000">
                <a:alpha val="12000"/>
              </a:srgbClr>
            </a:outerShdw>
          </a:effectLst>
        </p:spPr>
      </p:sp>
      <p:sp>
        <p:nvSpPr>
          <p:cNvPr id="10" name="Shape 8"/>
          <p:cNvSpPr/>
          <p:nvPr/>
        </p:nvSpPr>
        <p:spPr>
          <a:xfrm>
            <a:off x="274320" y="1865376"/>
            <a:ext cx="685800" cy="658368"/>
          </a:xfrm>
          <a:prstGeom prst="rect">
            <a:avLst/>
          </a:prstGeom>
          <a:solidFill>
            <a:srgbClr val="253080"/>
          </a:solidFill>
        </p:spPr>
      </p:sp>
      <p:sp>
        <p:nvSpPr>
          <p:cNvPr id="11" name="Text 9"/>
          <p:cNvSpPr/>
          <p:nvPr/>
        </p:nvSpPr>
        <p:spPr>
          <a:xfrm>
            <a:off x="274320" y="1865376"/>
            <a:ext cx="685800" cy="65836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600" dirty="0"/>
          </a:p>
        </p:txBody>
      </p:sp>
      <p:sp>
        <p:nvSpPr>
          <p:cNvPr id="12" name="Text 10"/>
          <p:cNvSpPr/>
          <p:nvPr/>
        </p:nvSpPr>
        <p:spPr>
          <a:xfrm>
            <a:off x="1097280" y="1938528"/>
            <a:ext cx="3200400" cy="274320"/>
          </a:xfrm>
          <a:prstGeom prst="rect">
            <a:avLst/>
          </a:prstGeom>
          <a:noFill/>
        </p:spPr>
        <p:txBody>
          <a:bodyPr wrap="square" lIns="0" tIns="0" rIns="0" bIns="0" rtlCol="0" anchor="ctr"/>
          <a:lstStyle/>
          <a:p>
            <a:pPr marL="0" indent="0">
              <a:buNone/>
            </a:pPr>
            <a:r>
              <a:rPr lang="en-US" sz="1300" b="1" dirty="0">
                <a:solidFill>
                  <a:srgbClr val="1E293B"/>
                </a:solidFill>
                <a:latin typeface="Calibri" panose="020F0502020204030204" pitchFamily="34" charset="0"/>
                <a:ea typeface="Calibri" panose="020F0502020204030204" pitchFamily="34" charset="-122"/>
                <a:cs typeface="Calibri" panose="020F0502020204030204" pitchFamily="34" charset="-120"/>
              </a:rPr>
              <a:t>Duplicate Check</a:t>
            </a:r>
            <a:endParaRPr lang="en-US" sz="1300" dirty="0"/>
          </a:p>
        </p:txBody>
      </p:sp>
      <p:sp>
        <p:nvSpPr>
          <p:cNvPr id="13" name="Text 11"/>
          <p:cNvSpPr/>
          <p:nvPr/>
        </p:nvSpPr>
        <p:spPr>
          <a:xfrm>
            <a:off x="1097280" y="2212848"/>
            <a:ext cx="7498080" cy="22860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Verified and removed any duplicate rows</a:t>
            </a:r>
            <a:endParaRPr lang="en-US" sz="1050" dirty="0"/>
          </a:p>
        </p:txBody>
      </p:sp>
      <p:sp>
        <p:nvSpPr>
          <p:cNvPr id="14" name="Shape 12"/>
          <p:cNvSpPr/>
          <p:nvPr/>
        </p:nvSpPr>
        <p:spPr>
          <a:xfrm>
            <a:off x="274320" y="2633472"/>
            <a:ext cx="8595360" cy="658368"/>
          </a:xfrm>
          <a:prstGeom prst="rect">
            <a:avLst/>
          </a:prstGeom>
          <a:solidFill>
            <a:srgbClr val="F1F4F9"/>
          </a:solidFill>
          <a:effectLst>
            <a:outerShdw blurRad="101600" dist="25400" dir="8100000" algn="bl" rotWithShape="0">
              <a:srgbClr val="000000">
                <a:alpha val="12000"/>
              </a:srgbClr>
            </a:outerShdw>
          </a:effectLst>
        </p:spPr>
      </p:sp>
      <p:sp>
        <p:nvSpPr>
          <p:cNvPr id="15" name="Shape 13"/>
          <p:cNvSpPr/>
          <p:nvPr/>
        </p:nvSpPr>
        <p:spPr>
          <a:xfrm>
            <a:off x="274320" y="2633472"/>
            <a:ext cx="685800" cy="658368"/>
          </a:xfrm>
          <a:prstGeom prst="rect">
            <a:avLst/>
          </a:prstGeom>
          <a:solidFill>
            <a:srgbClr val="0891B2"/>
          </a:solidFill>
        </p:spPr>
      </p:sp>
      <p:sp>
        <p:nvSpPr>
          <p:cNvPr id="16" name="Text 14"/>
          <p:cNvSpPr/>
          <p:nvPr/>
        </p:nvSpPr>
        <p:spPr>
          <a:xfrm>
            <a:off x="274320" y="2633472"/>
            <a:ext cx="685800" cy="65836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600" dirty="0"/>
          </a:p>
        </p:txBody>
      </p:sp>
      <p:sp>
        <p:nvSpPr>
          <p:cNvPr id="17" name="Text 15"/>
          <p:cNvSpPr/>
          <p:nvPr/>
        </p:nvSpPr>
        <p:spPr>
          <a:xfrm>
            <a:off x="1097280" y="2706624"/>
            <a:ext cx="3200400" cy="274320"/>
          </a:xfrm>
          <a:prstGeom prst="rect">
            <a:avLst/>
          </a:prstGeom>
          <a:noFill/>
        </p:spPr>
        <p:txBody>
          <a:bodyPr wrap="square" lIns="0" tIns="0" rIns="0" bIns="0" rtlCol="0" anchor="ctr"/>
          <a:lstStyle/>
          <a:p>
            <a:pPr marL="0" indent="0">
              <a:buNone/>
            </a:pPr>
            <a:r>
              <a:rPr lang="en-US" sz="1300" b="1" dirty="0">
                <a:solidFill>
                  <a:srgbClr val="1E293B"/>
                </a:solidFill>
                <a:latin typeface="Calibri" panose="020F0502020204030204" pitchFamily="34" charset="0"/>
                <a:ea typeface="Calibri" panose="020F0502020204030204" pitchFamily="34" charset="-122"/>
                <a:cs typeface="Calibri" panose="020F0502020204030204" pitchFamily="34" charset="-120"/>
              </a:rPr>
              <a:t>Label Encoding</a:t>
            </a:r>
            <a:endParaRPr lang="en-US" sz="1300" dirty="0"/>
          </a:p>
        </p:txBody>
      </p:sp>
      <p:sp>
        <p:nvSpPr>
          <p:cNvPr id="18" name="Text 16"/>
          <p:cNvSpPr/>
          <p:nvPr/>
        </p:nvSpPr>
        <p:spPr>
          <a:xfrm>
            <a:off x="1097280" y="2980944"/>
            <a:ext cx="7498080" cy="22860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Education &amp; Self-Employed → Binary (0/1)</a:t>
            </a:r>
            <a:endParaRPr lang="en-US" sz="1050" dirty="0"/>
          </a:p>
        </p:txBody>
      </p:sp>
      <p:sp>
        <p:nvSpPr>
          <p:cNvPr id="19" name="Shape 17"/>
          <p:cNvSpPr/>
          <p:nvPr/>
        </p:nvSpPr>
        <p:spPr>
          <a:xfrm>
            <a:off x="274320" y="3401568"/>
            <a:ext cx="8595360" cy="658368"/>
          </a:xfrm>
          <a:prstGeom prst="rect">
            <a:avLst/>
          </a:prstGeom>
          <a:solidFill>
            <a:srgbClr val="FFFFFF"/>
          </a:solidFill>
          <a:effectLst>
            <a:outerShdw blurRad="101600" dist="25400" dir="8100000" algn="bl" rotWithShape="0">
              <a:srgbClr val="000000">
                <a:alpha val="12000"/>
              </a:srgbClr>
            </a:outerShdw>
          </a:effectLst>
        </p:spPr>
      </p:sp>
      <p:sp>
        <p:nvSpPr>
          <p:cNvPr id="20" name="Shape 18"/>
          <p:cNvSpPr/>
          <p:nvPr/>
        </p:nvSpPr>
        <p:spPr>
          <a:xfrm>
            <a:off x="274320" y="3401568"/>
            <a:ext cx="685800" cy="658368"/>
          </a:xfrm>
          <a:prstGeom prst="rect">
            <a:avLst/>
          </a:prstGeom>
          <a:solidFill>
            <a:srgbClr val="253080"/>
          </a:solidFill>
        </p:spPr>
      </p:sp>
      <p:sp>
        <p:nvSpPr>
          <p:cNvPr id="21" name="Text 19"/>
          <p:cNvSpPr/>
          <p:nvPr/>
        </p:nvSpPr>
        <p:spPr>
          <a:xfrm>
            <a:off x="274320" y="3401568"/>
            <a:ext cx="685800" cy="65836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600" dirty="0"/>
          </a:p>
        </p:txBody>
      </p:sp>
      <p:sp>
        <p:nvSpPr>
          <p:cNvPr id="22" name="Text 20"/>
          <p:cNvSpPr/>
          <p:nvPr/>
        </p:nvSpPr>
        <p:spPr>
          <a:xfrm>
            <a:off x="1097280" y="3474720"/>
            <a:ext cx="3200400" cy="274320"/>
          </a:xfrm>
          <a:prstGeom prst="rect">
            <a:avLst/>
          </a:prstGeom>
          <a:noFill/>
        </p:spPr>
        <p:txBody>
          <a:bodyPr wrap="square" lIns="0" tIns="0" rIns="0" bIns="0" rtlCol="0" anchor="ctr"/>
          <a:lstStyle/>
          <a:p>
            <a:pPr marL="0" indent="0">
              <a:buNone/>
            </a:pPr>
            <a:r>
              <a:rPr lang="en-US" sz="1300" b="1" dirty="0">
                <a:solidFill>
                  <a:srgbClr val="1E293B"/>
                </a:solidFill>
                <a:latin typeface="Calibri" panose="020F0502020204030204" pitchFamily="34" charset="0"/>
                <a:ea typeface="Calibri" panose="020F0502020204030204" pitchFamily="34" charset="-122"/>
                <a:cs typeface="Calibri" panose="020F0502020204030204" pitchFamily="34" charset="-120"/>
              </a:rPr>
              <a:t>Train-Test Split</a:t>
            </a:r>
            <a:endParaRPr lang="en-US" sz="1300" dirty="0"/>
          </a:p>
        </p:txBody>
      </p:sp>
      <p:sp>
        <p:nvSpPr>
          <p:cNvPr id="23" name="Text 21"/>
          <p:cNvSpPr/>
          <p:nvPr/>
        </p:nvSpPr>
        <p:spPr>
          <a:xfrm>
            <a:off x="1097280" y="3749040"/>
            <a:ext cx="7498080" cy="22860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80% Training / 20% Testing — Stratified</a:t>
            </a:r>
            <a:endParaRPr lang="en-US" sz="1050" dirty="0"/>
          </a:p>
        </p:txBody>
      </p:sp>
      <p:sp>
        <p:nvSpPr>
          <p:cNvPr id="24" name="Shape 22"/>
          <p:cNvSpPr/>
          <p:nvPr/>
        </p:nvSpPr>
        <p:spPr>
          <a:xfrm>
            <a:off x="274320" y="4169664"/>
            <a:ext cx="8595360" cy="658368"/>
          </a:xfrm>
          <a:prstGeom prst="rect">
            <a:avLst/>
          </a:prstGeom>
          <a:solidFill>
            <a:srgbClr val="F1F4F9"/>
          </a:solidFill>
          <a:effectLst>
            <a:outerShdw blurRad="101600" dist="25400" dir="8100000" algn="bl" rotWithShape="0">
              <a:srgbClr val="000000">
                <a:alpha val="12000"/>
              </a:srgbClr>
            </a:outerShdw>
          </a:effectLst>
        </p:spPr>
      </p:sp>
      <p:sp>
        <p:nvSpPr>
          <p:cNvPr id="25" name="Shape 23"/>
          <p:cNvSpPr/>
          <p:nvPr/>
        </p:nvSpPr>
        <p:spPr>
          <a:xfrm>
            <a:off x="274320" y="4169664"/>
            <a:ext cx="685800" cy="658368"/>
          </a:xfrm>
          <a:prstGeom prst="rect">
            <a:avLst/>
          </a:prstGeom>
          <a:solidFill>
            <a:srgbClr val="0891B2"/>
          </a:solidFill>
        </p:spPr>
      </p:sp>
      <p:sp>
        <p:nvSpPr>
          <p:cNvPr id="26" name="Text 24"/>
          <p:cNvSpPr/>
          <p:nvPr/>
        </p:nvSpPr>
        <p:spPr>
          <a:xfrm>
            <a:off x="274320" y="4169664"/>
            <a:ext cx="685800" cy="658368"/>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600" dirty="0"/>
          </a:p>
        </p:txBody>
      </p:sp>
      <p:sp>
        <p:nvSpPr>
          <p:cNvPr id="27" name="Text 25"/>
          <p:cNvSpPr/>
          <p:nvPr/>
        </p:nvSpPr>
        <p:spPr>
          <a:xfrm>
            <a:off x="1097280" y="4242816"/>
            <a:ext cx="3200400" cy="274320"/>
          </a:xfrm>
          <a:prstGeom prst="rect">
            <a:avLst/>
          </a:prstGeom>
          <a:noFill/>
        </p:spPr>
        <p:txBody>
          <a:bodyPr wrap="square" lIns="0" tIns="0" rIns="0" bIns="0" rtlCol="0" anchor="ctr"/>
          <a:lstStyle/>
          <a:p>
            <a:pPr marL="0" indent="0">
              <a:buNone/>
            </a:pPr>
            <a:r>
              <a:rPr lang="en-US" sz="1300" b="1" dirty="0">
                <a:solidFill>
                  <a:srgbClr val="1E293B"/>
                </a:solidFill>
                <a:latin typeface="Calibri" panose="020F0502020204030204" pitchFamily="34" charset="0"/>
                <a:ea typeface="Calibri" panose="020F0502020204030204" pitchFamily="34" charset="-122"/>
                <a:cs typeface="Calibri" panose="020F0502020204030204" pitchFamily="34" charset="-120"/>
              </a:rPr>
              <a:t>Feature Scaling</a:t>
            </a:r>
            <a:endParaRPr lang="en-US" sz="1300" dirty="0"/>
          </a:p>
        </p:txBody>
      </p:sp>
      <p:sp>
        <p:nvSpPr>
          <p:cNvPr id="28" name="Text 26"/>
          <p:cNvSpPr/>
          <p:nvPr/>
        </p:nvSpPr>
        <p:spPr>
          <a:xfrm>
            <a:off x="1097280" y="4517136"/>
            <a:ext cx="7498080" cy="228600"/>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StandardScaler applied for LR, KNN, SVM</a:t>
            </a:r>
            <a:endParaRPr lang="en-US" sz="1050" dirty="0"/>
          </a:p>
        </p:txBody>
      </p:sp>
      <p:sp>
        <p:nvSpPr>
          <p:cNvPr id="29" name="Shape 27"/>
          <p:cNvSpPr/>
          <p:nvPr/>
        </p:nvSpPr>
        <p:spPr>
          <a:xfrm>
            <a:off x="5029200" y="1143000"/>
            <a:ext cx="3749040" cy="1463040"/>
          </a:xfrm>
          <a:prstGeom prst="rect">
            <a:avLst/>
          </a:prstGeom>
          <a:solidFill>
            <a:srgbClr val="E8EFFD"/>
          </a:solidFill>
          <a:effectLst>
            <a:outerShdw blurRad="101600" dist="25400" dir="8100000" algn="bl" rotWithShape="0">
              <a:srgbClr val="000000">
                <a:alpha val="12000"/>
              </a:srgbClr>
            </a:outerShdw>
          </a:effectLst>
        </p:spPr>
      </p:sp>
      <p:sp>
        <p:nvSpPr>
          <p:cNvPr id="30" name="Text 28"/>
          <p:cNvSpPr/>
          <p:nvPr/>
        </p:nvSpPr>
        <p:spPr>
          <a:xfrm>
            <a:off x="5120640" y="1188720"/>
            <a:ext cx="3474720" cy="320040"/>
          </a:xfrm>
          <a:prstGeom prst="rect">
            <a:avLst/>
          </a:prstGeom>
          <a:noFill/>
        </p:spPr>
        <p:txBody>
          <a:bodyPr wrap="square" lIns="0" tIns="0" rIns="0" bIns="0" rtlCol="0" anchor="ctr"/>
          <a:lstStyle/>
          <a:p>
            <a:pPr marL="0" indent="0">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Encoding Reference</a:t>
            </a:r>
            <a:endParaRPr lang="en-US" sz="1100" dirty="0"/>
          </a:p>
        </p:txBody>
      </p:sp>
      <p:graphicFrame>
        <p:nvGraphicFramePr>
          <p:cNvPr id="31" name="Table 0"/>
          <p:cNvGraphicFramePr>
            <a:graphicFrameLocks noGrp="1"/>
          </p:cNvGraphicFramePr>
          <p:nvPr/>
        </p:nvGraphicFramePr>
        <p:xfrm>
          <a:off x="5120640" y="1508760"/>
          <a:ext cx="3474720" cy="1005840"/>
        </p:xfrm>
        <a:graphic>
          <a:graphicData uri="http://schemas.openxmlformats.org/drawingml/2006/table">
            <a:tbl>
              <a:tblPr/>
              <a:tblGrid>
                <a:gridCol w="1463040"/>
                <a:gridCol w="1005840"/>
                <a:gridCol w="1005840"/>
              </a:tblGrid>
              <a:tr h="251460">
                <a:tc>
                  <a:txBody>
                    <a:bodyPr/>
                    <a:lstStyle/>
                    <a:p>
                      <a:pPr marL="0" indent="0" algn="ctr">
                        <a:buNone/>
                      </a:pPr>
                      <a:r>
                        <a:rPr lang="en-US" sz="900" b="1" dirty="0">
                          <a:solidFill>
                            <a:srgbClr val="FFFFFF"/>
                          </a:solidFill>
                        </a:rPr>
                        <a:t>Feature</a:t>
                      </a:r>
                      <a:endParaRPr lang="en-US" sz="9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900" b="1" dirty="0">
                          <a:solidFill>
                            <a:srgbClr val="FFFFFF"/>
                          </a:solidFill>
                        </a:rPr>
                        <a:t>0</a:t>
                      </a:r>
                      <a:endParaRPr lang="en-US" sz="9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900" b="1" dirty="0">
                          <a:solidFill>
                            <a:srgbClr val="FFFFFF"/>
                          </a:solidFill>
                        </a:rPr>
                        <a:t>1</a:t>
                      </a:r>
                      <a:endParaRPr lang="en-US" sz="900" dirty="0"/>
                    </a:p>
                  </a:txBody>
                  <a:tcPr>
                    <a:lnL w="0" cap="flat" cmpd="sng" algn="ctr">
                      <a:noFill/>
                    </a:lnL>
                    <a:lnR w="0" cap="flat" cmpd="sng" algn="ctr">
                      <a:noFill/>
                    </a:lnR>
                    <a:lnT w="0" cap="flat" cmpd="sng" algn="ctr">
                      <a:noFill/>
                    </a:lnT>
                    <a:lnB w="0" cap="flat" cmpd="sng" algn="ctr">
                      <a:noFill/>
                    </a:lnB>
                    <a:solidFill>
                      <a:srgbClr val="1E2761"/>
                    </a:solidFill>
                  </a:tcPr>
                </a:tc>
              </a:tr>
              <a:tr h="251460">
                <a:tc>
                  <a:txBody>
                    <a:bodyPr/>
                    <a:lstStyle/>
                    <a:p>
                      <a:pPr marL="0" indent="0" algn="ctr">
                        <a:buNone/>
                      </a:pPr>
                      <a:r>
                        <a:rPr lang="en-US" sz="900" dirty="0">
                          <a:solidFill>
                            <a:srgbClr val="1E293B"/>
                          </a:solidFill>
                        </a:rPr>
                        <a:t>Education</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00" dirty="0">
                          <a:solidFill>
                            <a:srgbClr val="1E293B"/>
                          </a:solidFill>
                        </a:rPr>
                        <a:t>Not Grad</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00" dirty="0">
                          <a:solidFill>
                            <a:srgbClr val="1E293B"/>
                          </a:solidFill>
                        </a:rPr>
                        <a:t>Graduate</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r>
              <a:tr h="251460">
                <a:tc>
                  <a:txBody>
                    <a:bodyPr/>
                    <a:lstStyle/>
                    <a:p>
                      <a:pPr marL="0" indent="0" algn="ctr">
                        <a:buNone/>
                      </a:pPr>
                      <a:r>
                        <a:rPr lang="en-US" sz="900" dirty="0">
                          <a:solidFill>
                            <a:srgbClr val="1E293B"/>
                          </a:solidFill>
                        </a:rPr>
                        <a:t>Self Employed</a:t>
                      </a:r>
                      <a:endParaRPr lang="en-US" sz="90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900" dirty="0">
                          <a:solidFill>
                            <a:srgbClr val="1E293B"/>
                          </a:solidFill>
                        </a:rPr>
                        <a:t>No</a:t>
                      </a:r>
                      <a:endParaRPr lang="en-US" sz="90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900" dirty="0">
                          <a:solidFill>
                            <a:srgbClr val="1E293B"/>
                          </a:solidFill>
                        </a:rPr>
                        <a:t>Yes</a:t>
                      </a:r>
                      <a:endParaRPr lang="en-US" sz="900" dirty="0"/>
                    </a:p>
                  </a:txBody>
                  <a:tcPr>
                    <a:lnL w="0" cap="flat" cmpd="sng" algn="ctr">
                      <a:noFill/>
                    </a:lnL>
                    <a:lnR w="0" cap="flat" cmpd="sng" algn="ctr">
                      <a:noFill/>
                    </a:lnR>
                    <a:lnT w="0" cap="flat" cmpd="sng" algn="ctr">
                      <a:noFill/>
                    </a:lnT>
                    <a:lnB w="0" cap="flat" cmpd="sng" algn="ctr">
                      <a:noFill/>
                    </a:lnB>
                    <a:solidFill>
                      <a:srgbClr val="F1F4F9"/>
                    </a:solidFill>
                  </a:tcPr>
                </a:tc>
              </a:tr>
              <a:tr h="251460">
                <a:tc>
                  <a:txBody>
                    <a:bodyPr/>
                    <a:lstStyle/>
                    <a:p>
                      <a:pPr marL="0" indent="0" algn="ctr">
                        <a:buNone/>
                      </a:pPr>
                      <a:r>
                        <a:rPr lang="en-US" sz="900" dirty="0">
                          <a:solidFill>
                            <a:srgbClr val="1E293B"/>
                          </a:solidFill>
                        </a:rPr>
                        <a:t>Loan Status</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00" dirty="0">
                          <a:solidFill>
                            <a:srgbClr val="1E293B"/>
                          </a:solidFill>
                        </a:rPr>
                        <a:t>Rejected</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900" dirty="0">
                          <a:solidFill>
                            <a:srgbClr val="1E293B"/>
                          </a:solidFill>
                        </a:rPr>
                        <a:t>Approved</a:t>
                      </a:r>
                      <a:endParaRPr lang="en-US" sz="900" dirty="0"/>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C4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p:spPr>
        <p:txBody>
          <a:bodyPr wrap="square" lIns="0" tIns="0" rIns="0" bIns="0" rtlCol="0" anchor="ctr"/>
          <a:lstStyle/>
          <a:p>
            <a:pPr marL="0" indent="0">
              <a:buNone/>
            </a:pPr>
            <a:r>
              <a:rPr lang="en-US" sz="2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Machine Learning Models</a:t>
            </a:r>
            <a:endParaRPr lang="en-US" sz="2600" dirty="0"/>
          </a:p>
        </p:txBody>
      </p:sp>
      <p:sp>
        <p:nvSpPr>
          <p:cNvPr id="3" name="Text 1"/>
          <p:cNvSpPr/>
          <p:nvPr/>
        </p:nvSpPr>
        <p:spPr>
          <a:xfrm>
            <a:off x="457200" y="749808"/>
            <a:ext cx="8229600" cy="32004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5 Classification Algorithms Trained &amp; Compared</a:t>
            </a:r>
            <a:endParaRPr lang="en-US" sz="1300" dirty="0"/>
          </a:p>
        </p:txBody>
      </p:sp>
      <p:sp>
        <p:nvSpPr>
          <p:cNvPr id="4" name="Shape 2"/>
          <p:cNvSpPr/>
          <p:nvPr/>
        </p:nvSpPr>
        <p:spPr>
          <a:xfrm>
            <a:off x="274320" y="1188720"/>
            <a:ext cx="2651760" cy="1463040"/>
          </a:xfrm>
          <a:prstGeom prst="rect">
            <a:avLst/>
          </a:prstGeom>
          <a:solidFill>
            <a:srgbClr val="1E2761"/>
          </a:solidFill>
          <a:effectLst>
            <a:outerShdw blurRad="101600" dist="25400" dir="8100000" algn="bl" rotWithShape="0">
              <a:srgbClr val="000000">
                <a:alpha val="12000"/>
              </a:srgbClr>
            </a:outerShdw>
          </a:effectLst>
        </p:spPr>
      </p:sp>
      <p:sp>
        <p:nvSpPr>
          <p:cNvPr id="5" name="Shape 3"/>
          <p:cNvSpPr/>
          <p:nvPr/>
        </p:nvSpPr>
        <p:spPr>
          <a:xfrm>
            <a:off x="274320" y="1188720"/>
            <a:ext cx="2651760" cy="54864"/>
          </a:xfrm>
          <a:prstGeom prst="rect">
            <a:avLst/>
          </a:prstGeom>
          <a:solidFill>
            <a:srgbClr val="0891B2"/>
          </a:solidFill>
        </p:spPr>
      </p:sp>
      <p:pic>
        <p:nvPicPr>
          <p:cNvPr id="6" name="Image 0" descr="preencoded.png"/>
          <p:cNvPicPr>
            <a:picLocks noChangeAspect="1"/>
          </p:cNvPicPr>
          <p:nvPr/>
        </p:nvPicPr>
        <p:blipFill>
          <a:blip r:embed="rId1"/>
          <a:stretch>
            <a:fillRect/>
          </a:stretch>
        </p:blipFill>
        <p:spPr>
          <a:xfrm>
            <a:off x="438912" y="1353312"/>
            <a:ext cx="457200" cy="457200"/>
          </a:xfrm>
          <a:prstGeom prst="rect">
            <a:avLst/>
          </a:prstGeom>
        </p:spPr>
      </p:pic>
      <p:sp>
        <p:nvSpPr>
          <p:cNvPr id="7" name="Text 4"/>
          <p:cNvSpPr/>
          <p:nvPr/>
        </p:nvSpPr>
        <p:spPr>
          <a:xfrm>
            <a:off x="960120" y="1298448"/>
            <a:ext cx="187452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200" dirty="0"/>
          </a:p>
        </p:txBody>
      </p:sp>
      <p:sp>
        <p:nvSpPr>
          <p:cNvPr id="8" name="Shape 5"/>
          <p:cNvSpPr/>
          <p:nvPr/>
        </p:nvSpPr>
        <p:spPr>
          <a:xfrm>
            <a:off x="960120" y="1627632"/>
            <a:ext cx="1097280" cy="219456"/>
          </a:xfrm>
          <a:prstGeom prst="rect">
            <a:avLst/>
          </a:prstGeom>
          <a:solidFill>
            <a:srgbClr val="0891B2"/>
          </a:solidFill>
        </p:spPr>
      </p:sp>
      <p:sp>
        <p:nvSpPr>
          <p:cNvPr id="9" name="Text 6"/>
          <p:cNvSpPr/>
          <p:nvPr/>
        </p:nvSpPr>
        <p:spPr>
          <a:xfrm>
            <a:off x="960120" y="1627632"/>
            <a:ext cx="1097280" cy="219456"/>
          </a:xfrm>
          <a:prstGeom prst="rect">
            <a:avLst/>
          </a:prstGeom>
          <a:noFill/>
        </p:spPr>
        <p:txBody>
          <a:bodyPr wrap="square" lIns="0" tIns="0" rIns="0" bIns="0" rtlCol="0" anchor="ctr"/>
          <a:lstStyle/>
          <a:p>
            <a:pPr marL="0" indent="0" algn="ctr">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Linear Model</a:t>
            </a:r>
            <a:endParaRPr lang="en-US" sz="800" dirty="0"/>
          </a:p>
        </p:txBody>
      </p:sp>
      <p:sp>
        <p:nvSpPr>
          <p:cNvPr id="10" name="Text 7"/>
          <p:cNvSpPr/>
          <p:nvPr/>
        </p:nvSpPr>
        <p:spPr>
          <a:xfrm>
            <a:off x="411480" y="1938528"/>
            <a:ext cx="2377440" cy="621792"/>
          </a:xfrm>
          <a:prstGeom prst="rect">
            <a:avLst/>
          </a:prstGeom>
          <a:noFill/>
        </p:spPr>
        <p:txBody>
          <a:bodyPr wrap="square" lIns="0" tIns="0" rIns="0" bIns="0" rtlCol="0" anchor="ctr"/>
          <a:lstStyle/>
          <a:p>
            <a:pPr marL="0" indent="0">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Baseline model. Fast and interpretable. Works well with scaled features.</a:t>
            </a:r>
            <a:endParaRPr lang="en-US" sz="900" dirty="0"/>
          </a:p>
        </p:txBody>
      </p:sp>
      <p:sp>
        <p:nvSpPr>
          <p:cNvPr id="11" name="Shape 8"/>
          <p:cNvSpPr/>
          <p:nvPr/>
        </p:nvSpPr>
        <p:spPr>
          <a:xfrm>
            <a:off x="3200400" y="1188720"/>
            <a:ext cx="2651760" cy="1463040"/>
          </a:xfrm>
          <a:prstGeom prst="rect">
            <a:avLst/>
          </a:prstGeom>
          <a:solidFill>
            <a:srgbClr val="1E2761"/>
          </a:solidFill>
          <a:effectLst>
            <a:outerShdw blurRad="101600" dist="25400" dir="8100000" algn="bl" rotWithShape="0">
              <a:srgbClr val="000000">
                <a:alpha val="12000"/>
              </a:srgbClr>
            </a:outerShdw>
          </a:effectLst>
        </p:spPr>
      </p:sp>
      <p:sp>
        <p:nvSpPr>
          <p:cNvPr id="12" name="Shape 9"/>
          <p:cNvSpPr/>
          <p:nvPr/>
        </p:nvSpPr>
        <p:spPr>
          <a:xfrm>
            <a:off x="3200400" y="1188720"/>
            <a:ext cx="2651760" cy="54864"/>
          </a:xfrm>
          <a:prstGeom prst="rect">
            <a:avLst/>
          </a:prstGeom>
          <a:solidFill>
            <a:srgbClr val="253080"/>
          </a:solidFill>
        </p:spPr>
      </p:sp>
      <p:pic>
        <p:nvPicPr>
          <p:cNvPr id="13" name="Image 1" descr="preencoded.png"/>
          <p:cNvPicPr>
            <a:picLocks noChangeAspect="1"/>
          </p:cNvPicPr>
          <p:nvPr/>
        </p:nvPicPr>
        <p:blipFill>
          <a:blip r:embed="rId2"/>
          <a:stretch>
            <a:fillRect/>
          </a:stretch>
        </p:blipFill>
        <p:spPr>
          <a:xfrm>
            <a:off x="3364992" y="1353312"/>
            <a:ext cx="457200" cy="457200"/>
          </a:xfrm>
          <a:prstGeom prst="rect">
            <a:avLst/>
          </a:prstGeom>
        </p:spPr>
      </p:pic>
      <p:sp>
        <p:nvSpPr>
          <p:cNvPr id="14" name="Text 10"/>
          <p:cNvSpPr/>
          <p:nvPr/>
        </p:nvSpPr>
        <p:spPr>
          <a:xfrm>
            <a:off x="3886200" y="1298448"/>
            <a:ext cx="187452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Decision Tree</a:t>
            </a:r>
            <a:endParaRPr lang="en-US" sz="1200" dirty="0"/>
          </a:p>
        </p:txBody>
      </p:sp>
      <p:sp>
        <p:nvSpPr>
          <p:cNvPr id="15" name="Shape 11"/>
          <p:cNvSpPr/>
          <p:nvPr/>
        </p:nvSpPr>
        <p:spPr>
          <a:xfrm>
            <a:off x="3886200" y="1627632"/>
            <a:ext cx="1097280" cy="219456"/>
          </a:xfrm>
          <a:prstGeom prst="rect">
            <a:avLst/>
          </a:prstGeom>
          <a:solidFill>
            <a:srgbClr val="253080"/>
          </a:solidFill>
        </p:spPr>
      </p:sp>
      <p:sp>
        <p:nvSpPr>
          <p:cNvPr id="16" name="Text 12"/>
          <p:cNvSpPr/>
          <p:nvPr/>
        </p:nvSpPr>
        <p:spPr>
          <a:xfrm>
            <a:off x="3886200" y="1627632"/>
            <a:ext cx="1097280" cy="219456"/>
          </a:xfrm>
          <a:prstGeom prst="rect">
            <a:avLst/>
          </a:prstGeom>
          <a:noFill/>
        </p:spPr>
        <p:txBody>
          <a:bodyPr wrap="square" lIns="0" tIns="0" rIns="0" bIns="0" rtlCol="0" anchor="ctr"/>
          <a:lstStyle/>
          <a:p>
            <a:pPr marL="0" indent="0" algn="ctr">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Tree-Based</a:t>
            </a:r>
            <a:endParaRPr lang="en-US" sz="800" dirty="0"/>
          </a:p>
        </p:txBody>
      </p:sp>
      <p:sp>
        <p:nvSpPr>
          <p:cNvPr id="17" name="Text 13"/>
          <p:cNvSpPr/>
          <p:nvPr/>
        </p:nvSpPr>
        <p:spPr>
          <a:xfrm>
            <a:off x="3337560" y="1938528"/>
            <a:ext cx="2377440" cy="621792"/>
          </a:xfrm>
          <a:prstGeom prst="rect">
            <a:avLst/>
          </a:prstGeom>
          <a:noFill/>
        </p:spPr>
        <p:txBody>
          <a:bodyPr wrap="square" lIns="0" tIns="0" rIns="0" bIns="0" rtlCol="0" anchor="ctr"/>
          <a:lstStyle/>
          <a:p>
            <a:pPr marL="0" indent="0">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Rule-based splits. Highly interpretable. Prone to overfitting.</a:t>
            </a:r>
            <a:endParaRPr lang="en-US" sz="900" dirty="0"/>
          </a:p>
        </p:txBody>
      </p:sp>
      <p:sp>
        <p:nvSpPr>
          <p:cNvPr id="18" name="Shape 14"/>
          <p:cNvSpPr/>
          <p:nvPr/>
        </p:nvSpPr>
        <p:spPr>
          <a:xfrm>
            <a:off x="6126480" y="1188720"/>
            <a:ext cx="2651760" cy="1463040"/>
          </a:xfrm>
          <a:prstGeom prst="rect">
            <a:avLst/>
          </a:prstGeom>
          <a:solidFill>
            <a:srgbClr val="1E2761"/>
          </a:solidFill>
          <a:effectLst>
            <a:outerShdw blurRad="101600" dist="25400" dir="8100000" algn="bl" rotWithShape="0">
              <a:srgbClr val="000000">
                <a:alpha val="12000"/>
              </a:srgbClr>
            </a:outerShdw>
          </a:effectLst>
        </p:spPr>
      </p:sp>
      <p:sp>
        <p:nvSpPr>
          <p:cNvPr id="19" name="Shape 15"/>
          <p:cNvSpPr/>
          <p:nvPr/>
        </p:nvSpPr>
        <p:spPr>
          <a:xfrm>
            <a:off x="6126480" y="1188720"/>
            <a:ext cx="2651760" cy="54864"/>
          </a:xfrm>
          <a:prstGeom prst="rect">
            <a:avLst/>
          </a:prstGeom>
          <a:solidFill>
            <a:srgbClr val="F5A623"/>
          </a:solidFill>
        </p:spPr>
      </p:sp>
      <p:pic>
        <p:nvPicPr>
          <p:cNvPr id="20" name="Image 2" descr="preencoded.png"/>
          <p:cNvPicPr>
            <a:picLocks noChangeAspect="1"/>
          </p:cNvPicPr>
          <p:nvPr/>
        </p:nvPicPr>
        <p:blipFill>
          <a:blip r:embed="rId3"/>
          <a:stretch>
            <a:fillRect/>
          </a:stretch>
        </p:blipFill>
        <p:spPr>
          <a:xfrm>
            <a:off x="6291072" y="1353312"/>
            <a:ext cx="457200" cy="457200"/>
          </a:xfrm>
          <a:prstGeom prst="rect">
            <a:avLst/>
          </a:prstGeom>
        </p:spPr>
      </p:pic>
      <p:sp>
        <p:nvSpPr>
          <p:cNvPr id="21" name="Text 16"/>
          <p:cNvSpPr/>
          <p:nvPr/>
        </p:nvSpPr>
        <p:spPr>
          <a:xfrm>
            <a:off x="6812280" y="1298448"/>
            <a:ext cx="187452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p>
        </p:txBody>
      </p:sp>
      <p:sp>
        <p:nvSpPr>
          <p:cNvPr id="22" name="Shape 17"/>
          <p:cNvSpPr/>
          <p:nvPr/>
        </p:nvSpPr>
        <p:spPr>
          <a:xfrm>
            <a:off x="6812280" y="1627632"/>
            <a:ext cx="1097280" cy="219456"/>
          </a:xfrm>
          <a:prstGeom prst="rect">
            <a:avLst/>
          </a:prstGeom>
          <a:solidFill>
            <a:srgbClr val="F5A623"/>
          </a:solidFill>
        </p:spPr>
      </p:sp>
      <p:sp>
        <p:nvSpPr>
          <p:cNvPr id="23" name="Text 18"/>
          <p:cNvSpPr/>
          <p:nvPr/>
        </p:nvSpPr>
        <p:spPr>
          <a:xfrm>
            <a:off x="6812280" y="1627632"/>
            <a:ext cx="1097280" cy="219456"/>
          </a:xfrm>
          <a:prstGeom prst="rect">
            <a:avLst/>
          </a:prstGeom>
          <a:noFill/>
        </p:spPr>
        <p:txBody>
          <a:bodyPr wrap="square" lIns="0" tIns="0" rIns="0" bIns="0" rtlCol="0" anchor="ctr"/>
          <a:lstStyle/>
          <a:p>
            <a:pPr marL="0" indent="0" algn="ctr">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Ensemble</a:t>
            </a:r>
            <a:endParaRPr lang="en-US" sz="800" dirty="0"/>
          </a:p>
        </p:txBody>
      </p:sp>
      <p:sp>
        <p:nvSpPr>
          <p:cNvPr id="24" name="Text 19"/>
          <p:cNvSpPr/>
          <p:nvPr/>
        </p:nvSpPr>
        <p:spPr>
          <a:xfrm>
            <a:off x="6263640" y="1938528"/>
            <a:ext cx="2377440" cy="621792"/>
          </a:xfrm>
          <a:prstGeom prst="rect">
            <a:avLst/>
          </a:prstGeom>
          <a:noFill/>
        </p:spPr>
        <p:txBody>
          <a:bodyPr wrap="square" lIns="0" tIns="0" rIns="0" bIns="0" rtlCol="0" anchor="ctr"/>
          <a:lstStyle/>
          <a:p>
            <a:pPr marL="0" indent="0">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Aggregates many trees. Robust and accurate. Handles non-linearity well.</a:t>
            </a:r>
            <a:endParaRPr lang="en-US" sz="900" dirty="0"/>
          </a:p>
        </p:txBody>
      </p:sp>
      <p:sp>
        <p:nvSpPr>
          <p:cNvPr id="25" name="Shape 20"/>
          <p:cNvSpPr/>
          <p:nvPr/>
        </p:nvSpPr>
        <p:spPr>
          <a:xfrm>
            <a:off x="274320" y="2880360"/>
            <a:ext cx="2651760" cy="1463040"/>
          </a:xfrm>
          <a:prstGeom prst="rect">
            <a:avLst/>
          </a:prstGeom>
          <a:solidFill>
            <a:srgbClr val="1E2761"/>
          </a:solidFill>
          <a:effectLst>
            <a:outerShdw blurRad="101600" dist="25400" dir="8100000" algn="bl" rotWithShape="0">
              <a:srgbClr val="000000">
                <a:alpha val="12000"/>
              </a:srgbClr>
            </a:outerShdw>
          </a:effectLst>
        </p:spPr>
      </p:sp>
      <p:sp>
        <p:nvSpPr>
          <p:cNvPr id="26" name="Shape 21"/>
          <p:cNvSpPr/>
          <p:nvPr/>
        </p:nvSpPr>
        <p:spPr>
          <a:xfrm>
            <a:off x="274320" y="2880360"/>
            <a:ext cx="2651760" cy="54864"/>
          </a:xfrm>
          <a:prstGeom prst="rect">
            <a:avLst/>
          </a:prstGeom>
          <a:solidFill>
            <a:srgbClr val="27AE60"/>
          </a:solidFill>
        </p:spPr>
      </p:sp>
      <p:pic>
        <p:nvPicPr>
          <p:cNvPr id="27" name="Image 3" descr="preencoded.png"/>
          <p:cNvPicPr>
            <a:picLocks noChangeAspect="1"/>
          </p:cNvPicPr>
          <p:nvPr/>
        </p:nvPicPr>
        <p:blipFill>
          <a:blip r:embed="rId4"/>
          <a:stretch>
            <a:fillRect/>
          </a:stretch>
        </p:blipFill>
        <p:spPr>
          <a:xfrm>
            <a:off x="438912" y="3044952"/>
            <a:ext cx="457200" cy="457200"/>
          </a:xfrm>
          <a:prstGeom prst="rect">
            <a:avLst/>
          </a:prstGeom>
        </p:spPr>
      </p:pic>
      <p:sp>
        <p:nvSpPr>
          <p:cNvPr id="28" name="Text 22"/>
          <p:cNvSpPr/>
          <p:nvPr/>
        </p:nvSpPr>
        <p:spPr>
          <a:xfrm>
            <a:off x="960120" y="2990088"/>
            <a:ext cx="187452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XGBoost</a:t>
            </a:r>
            <a:endParaRPr lang="en-US" sz="1200" dirty="0"/>
          </a:p>
        </p:txBody>
      </p:sp>
      <p:sp>
        <p:nvSpPr>
          <p:cNvPr id="29" name="Shape 23"/>
          <p:cNvSpPr/>
          <p:nvPr/>
        </p:nvSpPr>
        <p:spPr>
          <a:xfrm>
            <a:off x="960120" y="3319272"/>
            <a:ext cx="1097280" cy="219456"/>
          </a:xfrm>
          <a:prstGeom prst="rect">
            <a:avLst/>
          </a:prstGeom>
          <a:solidFill>
            <a:srgbClr val="27AE60"/>
          </a:solidFill>
        </p:spPr>
      </p:sp>
      <p:sp>
        <p:nvSpPr>
          <p:cNvPr id="30" name="Text 24"/>
          <p:cNvSpPr/>
          <p:nvPr/>
        </p:nvSpPr>
        <p:spPr>
          <a:xfrm>
            <a:off x="960120" y="3319272"/>
            <a:ext cx="1097280" cy="219456"/>
          </a:xfrm>
          <a:prstGeom prst="rect">
            <a:avLst/>
          </a:prstGeom>
          <a:noFill/>
        </p:spPr>
        <p:txBody>
          <a:bodyPr wrap="square" lIns="0" tIns="0" rIns="0" bIns="0" rtlCol="0" anchor="ctr"/>
          <a:lstStyle/>
          <a:p>
            <a:pPr marL="0" indent="0" algn="ctr">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Gradient Boosting</a:t>
            </a:r>
            <a:endParaRPr lang="en-US" sz="800" dirty="0"/>
          </a:p>
        </p:txBody>
      </p:sp>
      <p:sp>
        <p:nvSpPr>
          <p:cNvPr id="31" name="Text 25"/>
          <p:cNvSpPr/>
          <p:nvPr/>
        </p:nvSpPr>
        <p:spPr>
          <a:xfrm>
            <a:off x="411480" y="3630168"/>
            <a:ext cx="2377440" cy="621792"/>
          </a:xfrm>
          <a:prstGeom prst="rect">
            <a:avLst/>
          </a:prstGeom>
          <a:noFill/>
        </p:spPr>
        <p:txBody>
          <a:bodyPr wrap="square" lIns="0" tIns="0" rIns="0" bIns="0" rtlCol="0" anchor="ctr"/>
          <a:lstStyle/>
          <a:p>
            <a:pPr marL="0" indent="0">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Powerful boosting algorithm. Strong performer on tabular data.</a:t>
            </a:r>
            <a:endParaRPr lang="en-US" sz="900" dirty="0"/>
          </a:p>
        </p:txBody>
      </p:sp>
      <p:sp>
        <p:nvSpPr>
          <p:cNvPr id="32" name="Shape 26"/>
          <p:cNvSpPr/>
          <p:nvPr/>
        </p:nvSpPr>
        <p:spPr>
          <a:xfrm>
            <a:off x="3200400" y="2880360"/>
            <a:ext cx="2651760" cy="1463040"/>
          </a:xfrm>
          <a:prstGeom prst="rect">
            <a:avLst/>
          </a:prstGeom>
          <a:solidFill>
            <a:srgbClr val="1E2761"/>
          </a:solidFill>
          <a:effectLst>
            <a:outerShdw blurRad="101600" dist="25400" dir="8100000" algn="bl" rotWithShape="0">
              <a:srgbClr val="000000">
                <a:alpha val="12000"/>
              </a:srgbClr>
            </a:outerShdw>
          </a:effectLst>
        </p:spPr>
      </p:sp>
      <p:sp>
        <p:nvSpPr>
          <p:cNvPr id="33" name="Shape 27"/>
          <p:cNvSpPr/>
          <p:nvPr/>
        </p:nvSpPr>
        <p:spPr>
          <a:xfrm>
            <a:off x="3200400" y="2880360"/>
            <a:ext cx="2651760" cy="54864"/>
          </a:xfrm>
          <a:prstGeom prst="rect">
            <a:avLst/>
          </a:prstGeom>
          <a:solidFill>
            <a:srgbClr val="E74C3C"/>
          </a:solidFill>
        </p:spPr>
      </p:sp>
      <p:pic>
        <p:nvPicPr>
          <p:cNvPr id="34" name="Image 4" descr="preencoded.png"/>
          <p:cNvPicPr>
            <a:picLocks noChangeAspect="1"/>
          </p:cNvPicPr>
          <p:nvPr/>
        </p:nvPicPr>
        <p:blipFill>
          <a:blip r:embed="rId5"/>
          <a:stretch>
            <a:fillRect/>
          </a:stretch>
        </p:blipFill>
        <p:spPr>
          <a:xfrm>
            <a:off x="3364992" y="3044952"/>
            <a:ext cx="457200" cy="457200"/>
          </a:xfrm>
          <a:prstGeom prst="rect">
            <a:avLst/>
          </a:prstGeom>
        </p:spPr>
      </p:pic>
      <p:sp>
        <p:nvSpPr>
          <p:cNvPr id="35" name="Text 28"/>
          <p:cNvSpPr/>
          <p:nvPr/>
        </p:nvSpPr>
        <p:spPr>
          <a:xfrm>
            <a:off x="3886200" y="2990088"/>
            <a:ext cx="187452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KNN</a:t>
            </a:r>
            <a:endParaRPr lang="en-US" sz="1200" dirty="0"/>
          </a:p>
        </p:txBody>
      </p:sp>
      <p:sp>
        <p:nvSpPr>
          <p:cNvPr id="36" name="Shape 29"/>
          <p:cNvSpPr/>
          <p:nvPr/>
        </p:nvSpPr>
        <p:spPr>
          <a:xfrm>
            <a:off x="3886200" y="3319272"/>
            <a:ext cx="1097280" cy="219456"/>
          </a:xfrm>
          <a:prstGeom prst="rect">
            <a:avLst/>
          </a:prstGeom>
          <a:solidFill>
            <a:srgbClr val="E74C3C"/>
          </a:solidFill>
        </p:spPr>
      </p:sp>
      <p:sp>
        <p:nvSpPr>
          <p:cNvPr id="37" name="Text 30"/>
          <p:cNvSpPr/>
          <p:nvPr/>
        </p:nvSpPr>
        <p:spPr>
          <a:xfrm>
            <a:off x="3886200" y="3319272"/>
            <a:ext cx="1097280" cy="219456"/>
          </a:xfrm>
          <a:prstGeom prst="rect">
            <a:avLst/>
          </a:prstGeom>
          <a:noFill/>
        </p:spPr>
        <p:txBody>
          <a:bodyPr wrap="square" lIns="0" tIns="0" rIns="0" bIns="0" rtlCol="0" anchor="ctr"/>
          <a:lstStyle/>
          <a:p>
            <a:pPr marL="0" indent="0" algn="ctr">
              <a:buNone/>
            </a:pPr>
            <a:r>
              <a:rPr lang="en-US" sz="800" dirty="0">
                <a:solidFill>
                  <a:srgbClr val="FFFFFF"/>
                </a:solidFill>
                <a:latin typeface="Calibri" panose="020F0502020204030204" pitchFamily="34" charset="0"/>
                <a:ea typeface="Calibri" panose="020F0502020204030204" pitchFamily="34" charset="-122"/>
                <a:cs typeface="Calibri" panose="020F0502020204030204" pitchFamily="34" charset="-120"/>
              </a:rPr>
              <a:t>Distance-Based</a:t>
            </a:r>
            <a:endParaRPr lang="en-US" sz="800" dirty="0"/>
          </a:p>
        </p:txBody>
      </p:sp>
      <p:sp>
        <p:nvSpPr>
          <p:cNvPr id="38" name="Text 31"/>
          <p:cNvSpPr/>
          <p:nvPr/>
        </p:nvSpPr>
        <p:spPr>
          <a:xfrm>
            <a:off x="3337560" y="3630168"/>
            <a:ext cx="2377440" cy="621792"/>
          </a:xfrm>
          <a:prstGeom prst="rect">
            <a:avLst/>
          </a:prstGeom>
          <a:noFill/>
        </p:spPr>
        <p:txBody>
          <a:bodyPr wrap="square" lIns="0" tIns="0" rIns="0" bIns="0" rtlCol="0" anchor="ctr"/>
          <a:lstStyle/>
          <a:p>
            <a:pPr marL="0" indent="0">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Classifies based on nearest neighbors. Sensitive to scaling.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Evaluation &amp; Comparison</a:t>
            </a:r>
            <a:endParaRPr lang="en-US" sz="2400" dirty="0"/>
          </a:p>
        </p:txBody>
      </p:sp>
      <p:graphicFrame>
        <p:nvGraphicFramePr>
          <p:cNvPr id="9" name="Table 0"/>
          <p:cNvGraphicFramePr>
            <a:graphicFrameLocks noGrp="1"/>
          </p:cNvGraphicFramePr>
          <p:nvPr/>
        </p:nvGraphicFramePr>
        <p:xfrm>
          <a:off x="274320" y="1097280"/>
          <a:ext cx="5303520" cy="3566160"/>
        </p:xfrm>
        <a:graphic>
          <a:graphicData uri="http://schemas.openxmlformats.org/drawingml/2006/table">
            <a:tbl>
              <a:tblPr/>
              <a:tblGrid>
                <a:gridCol w="1828800"/>
                <a:gridCol w="868680"/>
                <a:gridCol w="868680"/>
                <a:gridCol w="868680"/>
                <a:gridCol w="868680"/>
              </a:tblGrid>
              <a:tr h="594360">
                <a:tc>
                  <a:txBody>
                    <a:bodyPr/>
                    <a:lstStyle/>
                    <a:p>
                      <a:pPr marL="0" indent="0" algn="l">
                        <a:buNone/>
                      </a:pPr>
                      <a:r>
                        <a:rPr lang="en-US" sz="1100" b="1" dirty="0">
                          <a:solidFill>
                            <a:srgbClr val="FFFFFF"/>
                          </a:solidFill>
                        </a:rPr>
                        <a:t>Model</a:t>
                      </a:r>
                      <a:endParaRPr lang="en-US" sz="11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FFFFFF"/>
                          </a:solidFill>
                        </a:rPr>
                        <a:t>Accuracy</a:t>
                      </a:r>
                      <a:endParaRPr lang="en-US" sz="11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FFFFFF"/>
                          </a:solidFill>
                        </a:rPr>
                        <a:t>Precision</a:t>
                      </a:r>
                      <a:endParaRPr lang="en-US" sz="11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FFFFFF"/>
                          </a:solidFill>
                        </a:rPr>
                        <a:t>Recall</a:t>
                      </a:r>
                      <a:endParaRPr lang="en-US" sz="1100" dirty="0"/>
                    </a:p>
                  </a:txBody>
                  <a:tcPr>
                    <a:lnL w="0" cap="flat" cmpd="sng" algn="ctr">
                      <a:noFill/>
                    </a:lnL>
                    <a:lnR w="0" cap="flat" cmpd="sng" algn="ctr">
                      <a:noFill/>
                    </a:lnR>
                    <a:lnT w="0" cap="flat" cmpd="sng" algn="ctr">
                      <a:noFill/>
                    </a:lnT>
                    <a:lnB w="0" cap="flat" cmpd="sng" algn="ctr">
                      <a:noFill/>
                    </a:lnB>
                    <a:solidFill>
                      <a:srgbClr val="1E2761"/>
                    </a:solidFill>
                  </a:tcPr>
                </a:tc>
                <a:tc>
                  <a:txBody>
                    <a:bodyPr/>
                    <a:lstStyle/>
                    <a:p>
                      <a:pPr marL="0" indent="0" algn="ctr">
                        <a:buNone/>
                      </a:pPr>
                      <a:r>
                        <a:rPr lang="en-US" sz="1100" b="1" dirty="0">
                          <a:solidFill>
                            <a:srgbClr val="FFFFFF"/>
                          </a:solidFill>
                        </a:rPr>
                        <a:t>F1-Score</a:t>
                      </a:r>
                      <a:endParaRPr lang="en-US" sz="1100" dirty="0"/>
                    </a:p>
                  </a:txBody>
                  <a:tcPr>
                    <a:lnL w="0" cap="flat" cmpd="sng" algn="ctr">
                      <a:noFill/>
                    </a:lnL>
                    <a:lnR w="0" cap="flat" cmpd="sng" algn="ctr">
                      <a:noFill/>
                    </a:lnR>
                    <a:lnT w="0" cap="flat" cmpd="sng" algn="ctr">
                      <a:noFill/>
                    </a:lnT>
                    <a:lnB w="0" cap="flat" cmpd="sng" algn="ctr">
                      <a:noFill/>
                    </a:lnB>
                    <a:solidFill>
                      <a:srgbClr val="1E2761"/>
                    </a:solidFill>
                  </a:tcPr>
                </a:tc>
              </a:tr>
              <a:tr h="594360">
                <a:tc>
                  <a:txBody>
                    <a:bodyPr/>
                    <a:lstStyle/>
                    <a:p>
                      <a:pPr marL="0" indent="0" algn="l">
                        <a:buNone/>
                      </a:pPr>
                      <a:r>
                        <a:rPr lang="en-US" sz="1050" b="1" dirty="0">
                          <a:solidFill>
                            <a:srgbClr val="1E293B"/>
                          </a:solidFill>
                        </a:rPr>
                        <a:t>Logistic Regression</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r>
              <a:tr h="594360">
                <a:tc>
                  <a:txBody>
                    <a:bodyPr/>
                    <a:lstStyle/>
                    <a:p>
                      <a:pPr marL="0" indent="0" algn="l">
                        <a:buNone/>
                      </a:pPr>
                      <a:r>
                        <a:rPr lang="en-US" sz="1050" b="1" dirty="0">
                          <a:solidFill>
                            <a:srgbClr val="1E293B"/>
                          </a:solidFill>
                        </a:rPr>
                        <a:t>Decision Tree</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r>
              <a:tr h="594360">
                <a:tc>
                  <a:txBody>
                    <a:bodyPr/>
                    <a:lstStyle/>
                    <a:p>
                      <a:pPr marL="0" indent="0" algn="l">
                        <a:buNone/>
                      </a:pPr>
                      <a:r>
                        <a:rPr lang="en-US" sz="1050" b="1" dirty="0">
                          <a:solidFill>
                            <a:srgbClr val="1E293B"/>
                          </a:solidFill>
                        </a:rPr>
                        <a:t>Random Forest ⭐</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r>
              <a:tr h="594360">
                <a:tc>
                  <a:txBody>
                    <a:bodyPr/>
                    <a:lstStyle/>
                    <a:p>
                      <a:pPr marL="0" indent="0" algn="l">
                        <a:buNone/>
                      </a:pPr>
                      <a:r>
                        <a:rPr lang="en-US" sz="1050" b="1" dirty="0">
                          <a:solidFill>
                            <a:srgbClr val="1E293B"/>
                          </a:solidFill>
                        </a:rPr>
                        <a:t>XGBoost ⭐</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1F4F9"/>
                    </a:solidFill>
                  </a:tcPr>
                </a:tc>
              </a:tr>
              <a:tr h="594360">
                <a:tc>
                  <a:txBody>
                    <a:bodyPr/>
                    <a:lstStyle/>
                    <a:p>
                      <a:pPr marL="0" indent="0" algn="l">
                        <a:buNone/>
                      </a:pPr>
                      <a:r>
                        <a:rPr lang="en-US" sz="1050" b="1" dirty="0">
                          <a:solidFill>
                            <a:srgbClr val="1E293B"/>
                          </a:solidFill>
                        </a:rPr>
                        <a:t>KNN</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050" dirty="0">
                          <a:solidFill>
                            <a:srgbClr val="1E293B"/>
                          </a:solidFill>
                        </a:rPr>
                        <a:t>XX%</a:t>
                      </a:r>
                      <a:endParaRPr lang="en-US" sz="1050" dirty="0"/>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5806440" y="1097280"/>
            <a:ext cx="3063240" cy="731520"/>
          </a:xfrm>
          <a:prstGeom prst="rect">
            <a:avLst/>
          </a:prstGeom>
          <a:solidFill>
            <a:srgbClr val="1E2761"/>
          </a:solidFill>
          <a:effectLst>
            <a:outerShdw blurRad="101600" dist="25400" dir="8100000" algn="bl" rotWithShape="0">
              <a:srgbClr val="000000">
                <a:alpha val="12000"/>
              </a:srgbClr>
            </a:outerShdw>
          </a:effectLst>
        </p:spPr>
      </p:sp>
      <p:sp>
        <p:nvSpPr>
          <p:cNvPr id="6" name="Text 3"/>
          <p:cNvSpPr/>
          <p:nvPr/>
        </p:nvSpPr>
        <p:spPr>
          <a:xfrm>
            <a:off x="5806440" y="1097280"/>
            <a:ext cx="3063240" cy="411480"/>
          </a:xfrm>
          <a:prstGeom prst="rect">
            <a:avLst/>
          </a:prstGeom>
          <a:noFill/>
        </p:spPr>
        <p:txBody>
          <a:bodyPr wrap="square" lIns="0" tIns="0" rIns="0" bIns="0" rtlCol="0" anchor="b"/>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Accuracy</a:t>
            </a:r>
            <a:endParaRPr lang="en-US" sz="1600" dirty="0"/>
          </a:p>
        </p:txBody>
      </p:sp>
      <p:sp>
        <p:nvSpPr>
          <p:cNvPr id="7" name="Text 4"/>
          <p:cNvSpPr/>
          <p:nvPr/>
        </p:nvSpPr>
        <p:spPr>
          <a:xfrm>
            <a:off x="5806440" y="1481328"/>
            <a:ext cx="3063240" cy="274320"/>
          </a:xfrm>
          <a:prstGeom prst="rect">
            <a:avLst/>
          </a:prstGeom>
          <a:noFill/>
        </p:spPr>
        <p:txBody>
          <a:bodyPr wrap="square" lIns="0" tIns="0" rIns="0" bIns="0" rtlCol="0" anchor="ctr"/>
          <a:lstStyle/>
          <a:p>
            <a:pPr marL="0" indent="0" algn="ctr">
              <a:buNone/>
            </a:pPr>
            <a:r>
              <a:rPr lang="en-US" sz="900" i="1" dirty="0">
                <a:solidFill>
                  <a:srgbClr val="FFFFFF"/>
                </a:solidFill>
                <a:latin typeface="Calibri" panose="020F0502020204030204" pitchFamily="34" charset="0"/>
                <a:ea typeface="Calibri" panose="020F0502020204030204" pitchFamily="34" charset="-122"/>
                <a:cs typeface="Calibri" panose="020F0502020204030204" pitchFamily="34" charset="-120"/>
              </a:rPr>
              <a:t>[ Insert Score ]</a:t>
            </a:r>
            <a:endParaRPr lang="en-US" sz="900" dirty="0"/>
          </a:p>
        </p:txBody>
      </p:sp>
      <p:sp>
        <p:nvSpPr>
          <p:cNvPr id="8" name="Shape 5"/>
          <p:cNvSpPr/>
          <p:nvPr/>
        </p:nvSpPr>
        <p:spPr>
          <a:xfrm>
            <a:off x="5806440" y="1965960"/>
            <a:ext cx="3063240" cy="731520"/>
          </a:xfrm>
          <a:prstGeom prst="rect">
            <a:avLst/>
          </a:prstGeom>
          <a:solidFill>
            <a:srgbClr val="0891B2"/>
          </a:solidFill>
          <a:effectLst>
            <a:outerShdw blurRad="101600" dist="25400" dir="8100000" algn="bl" rotWithShape="0">
              <a:srgbClr val="000000">
                <a:alpha val="12000"/>
              </a:srgbClr>
            </a:outerShdw>
          </a:effectLst>
        </p:spPr>
      </p:sp>
      <p:sp>
        <p:nvSpPr>
          <p:cNvPr id="4" name="Text 6"/>
          <p:cNvSpPr/>
          <p:nvPr/>
        </p:nvSpPr>
        <p:spPr>
          <a:xfrm>
            <a:off x="5806440" y="1965960"/>
            <a:ext cx="3063240" cy="411480"/>
          </a:xfrm>
          <a:prstGeom prst="rect">
            <a:avLst/>
          </a:prstGeom>
          <a:noFill/>
        </p:spPr>
        <p:txBody>
          <a:bodyPr wrap="square" lIns="0" tIns="0" rIns="0" bIns="0" rtlCol="0" anchor="b"/>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Precision</a:t>
            </a:r>
            <a:endParaRPr lang="en-US" sz="1600" dirty="0"/>
          </a:p>
        </p:txBody>
      </p:sp>
      <p:sp>
        <p:nvSpPr>
          <p:cNvPr id="10" name="Text 7"/>
          <p:cNvSpPr/>
          <p:nvPr/>
        </p:nvSpPr>
        <p:spPr>
          <a:xfrm>
            <a:off x="5806440" y="2350008"/>
            <a:ext cx="3063240" cy="274320"/>
          </a:xfrm>
          <a:prstGeom prst="rect">
            <a:avLst/>
          </a:prstGeom>
          <a:noFill/>
        </p:spPr>
        <p:txBody>
          <a:bodyPr wrap="square" lIns="0" tIns="0" rIns="0" bIns="0" rtlCol="0" anchor="ctr"/>
          <a:lstStyle/>
          <a:p>
            <a:pPr marL="0" indent="0" algn="ctr">
              <a:buNone/>
            </a:pPr>
            <a:r>
              <a:rPr lang="en-US" sz="900" i="1" dirty="0">
                <a:solidFill>
                  <a:srgbClr val="FFFFFF"/>
                </a:solidFill>
                <a:latin typeface="Calibri" panose="020F0502020204030204" pitchFamily="34" charset="0"/>
                <a:ea typeface="Calibri" panose="020F0502020204030204" pitchFamily="34" charset="-122"/>
                <a:cs typeface="Calibri" panose="020F0502020204030204" pitchFamily="34" charset="-120"/>
              </a:rPr>
              <a:t>[ Insert Score ]</a:t>
            </a:r>
            <a:endParaRPr lang="en-US" sz="900" dirty="0"/>
          </a:p>
        </p:txBody>
      </p:sp>
      <p:sp>
        <p:nvSpPr>
          <p:cNvPr id="11" name="Shape 8"/>
          <p:cNvSpPr/>
          <p:nvPr/>
        </p:nvSpPr>
        <p:spPr>
          <a:xfrm>
            <a:off x="5806440" y="2834640"/>
            <a:ext cx="3063240" cy="731520"/>
          </a:xfrm>
          <a:prstGeom prst="rect">
            <a:avLst/>
          </a:prstGeom>
          <a:solidFill>
            <a:srgbClr val="27AE60"/>
          </a:solidFill>
          <a:effectLst>
            <a:outerShdw blurRad="101600" dist="25400" dir="8100000" algn="bl" rotWithShape="0">
              <a:srgbClr val="000000">
                <a:alpha val="12000"/>
              </a:srgbClr>
            </a:outerShdw>
          </a:effectLst>
        </p:spPr>
      </p:sp>
      <p:sp>
        <p:nvSpPr>
          <p:cNvPr id="12" name="Text 9"/>
          <p:cNvSpPr/>
          <p:nvPr/>
        </p:nvSpPr>
        <p:spPr>
          <a:xfrm>
            <a:off x="5806440" y="2834640"/>
            <a:ext cx="3063240" cy="411480"/>
          </a:xfrm>
          <a:prstGeom prst="rect">
            <a:avLst/>
          </a:prstGeom>
          <a:noFill/>
        </p:spPr>
        <p:txBody>
          <a:bodyPr wrap="square" lIns="0" tIns="0" rIns="0" bIns="0" rtlCol="0" anchor="b"/>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600" dirty="0"/>
          </a:p>
        </p:txBody>
      </p:sp>
      <p:sp>
        <p:nvSpPr>
          <p:cNvPr id="13" name="Text 10"/>
          <p:cNvSpPr/>
          <p:nvPr/>
        </p:nvSpPr>
        <p:spPr>
          <a:xfrm>
            <a:off x="5806440" y="3218688"/>
            <a:ext cx="3063240" cy="274320"/>
          </a:xfrm>
          <a:prstGeom prst="rect">
            <a:avLst/>
          </a:prstGeom>
          <a:noFill/>
        </p:spPr>
        <p:txBody>
          <a:bodyPr wrap="square" lIns="0" tIns="0" rIns="0" bIns="0" rtlCol="0" anchor="ctr"/>
          <a:lstStyle/>
          <a:p>
            <a:pPr marL="0" indent="0" algn="ctr">
              <a:buNone/>
            </a:pPr>
            <a:r>
              <a:rPr lang="en-US" sz="900" i="1" dirty="0">
                <a:solidFill>
                  <a:srgbClr val="FFFFFF"/>
                </a:solidFill>
                <a:latin typeface="Calibri" panose="020F0502020204030204" pitchFamily="34" charset="0"/>
                <a:ea typeface="Calibri" panose="020F0502020204030204" pitchFamily="34" charset="-122"/>
                <a:cs typeface="Calibri" panose="020F0502020204030204" pitchFamily="34" charset="-120"/>
              </a:rPr>
              <a:t>[ Insert Score ]</a:t>
            </a:r>
            <a:endParaRPr lang="en-US" sz="900" dirty="0"/>
          </a:p>
        </p:txBody>
      </p:sp>
      <p:sp>
        <p:nvSpPr>
          <p:cNvPr id="14" name="Shape 11"/>
          <p:cNvSpPr/>
          <p:nvPr/>
        </p:nvSpPr>
        <p:spPr>
          <a:xfrm>
            <a:off x="5806440" y="3703320"/>
            <a:ext cx="3063240" cy="731520"/>
          </a:xfrm>
          <a:prstGeom prst="rect">
            <a:avLst/>
          </a:prstGeom>
          <a:solidFill>
            <a:srgbClr val="F5A623"/>
          </a:solidFill>
          <a:effectLst>
            <a:outerShdw blurRad="101600" dist="25400" dir="8100000" algn="bl" rotWithShape="0">
              <a:srgbClr val="000000">
                <a:alpha val="12000"/>
              </a:srgbClr>
            </a:outerShdw>
          </a:effectLst>
        </p:spPr>
      </p:sp>
      <p:sp>
        <p:nvSpPr>
          <p:cNvPr id="15" name="Text 12"/>
          <p:cNvSpPr/>
          <p:nvPr/>
        </p:nvSpPr>
        <p:spPr>
          <a:xfrm>
            <a:off x="5806440" y="3703320"/>
            <a:ext cx="3063240" cy="411480"/>
          </a:xfrm>
          <a:prstGeom prst="rect">
            <a:avLst/>
          </a:prstGeom>
          <a:noFill/>
        </p:spPr>
        <p:txBody>
          <a:bodyPr wrap="square" lIns="0" tIns="0" rIns="0" bIns="0" rtlCol="0" anchor="b"/>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F1-Score</a:t>
            </a:r>
            <a:endParaRPr lang="en-US" sz="1600" dirty="0"/>
          </a:p>
        </p:txBody>
      </p:sp>
      <p:sp>
        <p:nvSpPr>
          <p:cNvPr id="16" name="Text 13"/>
          <p:cNvSpPr/>
          <p:nvPr/>
        </p:nvSpPr>
        <p:spPr>
          <a:xfrm>
            <a:off x="5806440" y="4087368"/>
            <a:ext cx="3063240" cy="274320"/>
          </a:xfrm>
          <a:prstGeom prst="rect">
            <a:avLst/>
          </a:prstGeom>
          <a:noFill/>
        </p:spPr>
        <p:txBody>
          <a:bodyPr wrap="square" lIns="0" tIns="0" rIns="0" bIns="0" rtlCol="0" anchor="ctr"/>
          <a:lstStyle/>
          <a:p>
            <a:pPr marL="0" indent="0" algn="ctr">
              <a:buNone/>
            </a:pPr>
            <a:r>
              <a:rPr lang="en-US" sz="900" i="1" dirty="0">
                <a:solidFill>
                  <a:srgbClr val="FFFFFF"/>
                </a:solidFill>
                <a:latin typeface="Calibri" panose="020F0502020204030204" pitchFamily="34" charset="0"/>
                <a:ea typeface="Calibri" panose="020F0502020204030204" pitchFamily="34" charset="-122"/>
                <a:cs typeface="Calibri" panose="020F0502020204030204" pitchFamily="34" charset="-120"/>
              </a:rPr>
              <a:t>[ Insert Score ]</a:t>
            </a:r>
            <a:endParaRPr lang="en-US" sz="900" dirty="0"/>
          </a:p>
        </p:txBody>
      </p:sp>
      <p:sp>
        <p:nvSpPr>
          <p:cNvPr id="17" name="Shape 14"/>
          <p:cNvSpPr/>
          <p:nvPr/>
        </p:nvSpPr>
        <p:spPr>
          <a:xfrm>
            <a:off x="274320" y="4663440"/>
            <a:ext cx="8595360" cy="384048"/>
          </a:xfrm>
          <a:prstGeom prst="rect">
            <a:avLst/>
          </a:prstGeom>
          <a:solidFill>
            <a:srgbClr val="F5A623"/>
          </a:solidFill>
        </p:spPr>
      </p:sp>
      <p:sp>
        <p:nvSpPr>
          <p:cNvPr id="18" name="Text 15"/>
          <p:cNvSpPr/>
          <p:nvPr/>
        </p:nvSpPr>
        <p:spPr>
          <a:xfrm>
            <a:off x="274320" y="4663440"/>
            <a:ext cx="8595360" cy="384048"/>
          </a:xfrm>
          <a:prstGeom prst="rect">
            <a:avLst/>
          </a:prstGeom>
          <a:noFill/>
        </p:spPr>
        <p:txBody>
          <a:bodyPr wrap="square" lIns="0" tIns="0" rIns="0" bIns="0" rtlCol="0" anchor="ctr"/>
          <a:lstStyle/>
          <a:p>
            <a:pPr marL="0" indent="0" algn="ctr">
              <a:buNone/>
            </a:pPr>
            <a:r>
              <a:rPr lang="en-US" sz="1100" b="1" dirty="0">
                <a:solidFill>
                  <a:srgbClr val="141C4A"/>
                </a:solidFill>
                <a:latin typeface="Calibri" panose="020F0502020204030204" pitchFamily="34" charset="0"/>
                <a:ea typeface="Calibri" panose="020F0502020204030204" pitchFamily="34" charset="-122"/>
                <a:cs typeface="Calibri" panose="020F0502020204030204" pitchFamily="34" charset="-120"/>
              </a:rPr>
              <a:t>🏆  Best Model: Random Forest / XGBoost — Highest Accuracy &amp; F1-Score  |  Fill in results after running the notebook</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 Importance Analysis</a:t>
            </a:r>
            <a:endParaRPr lang="en-US" sz="2400" dirty="0"/>
          </a:p>
        </p:txBody>
      </p:sp>
      <p:sp>
        <p:nvSpPr>
          <p:cNvPr id="4" name="Text 2"/>
          <p:cNvSpPr/>
          <p:nvPr/>
        </p:nvSpPr>
        <p:spPr>
          <a:xfrm>
            <a:off x="274320" y="1051560"/>
            <a:ext cx="2743200" cy="320040"/>
          </a:xfrm>
          <a:prstGeom prst="rect">
            <a:avLst/>
          </a:prstGeom>
          <a:noFill/>
        </p:spPr>
        <p:txBody>
          <a:bodyPr wrap="square" lIns="0" tIns="0" rIns="0" bIns="0" rtlCol="0" anchor="ctr"/>
          <a:lstStyle/>
          <a:p>
            <a:pPr marL="0" indent="0">
              <a:buNone/>
            </a:pPr>
            <a:r>
              <a:rPr lang="en-US" sz="1050" b="1" dirty="0">
                <a:solidFill>
                  <a:srgbClr val="1E293B"/>
                </a:solidFill>
                <a:latin typeface="Calibri" panose="020F0502020204030204" pitchFamily="34" charset="0"/>
                <a:ea typeface="Calibri" panose="020F0502020204030204" pitchFamily="34" charset="-122"/>
                <a:cs typeface="Calibri" panose="020F0502020204030204" pitchFamily="34" charset="-120"/>
              </a:rPr>
              <a:t>1. CIBIL Score</a:t>
            </a:r>
            <a:endParaRPr lang="en-US" sz="1050" dirty="0"/>
          </a:p>
        </p:txBody>
      </p:sp>
      <p:sp>
        <p:nvSpPr>
          <p:cNvPr id="5" name="Shape 3"/>
          <p:cNvSpPr/>
          <p:nvPr/>
        </p:nvSpPr>
        <p:spPr>
          <a:xfrm>
            <a:off x="3063240" y="1106424"/>
            <a:ext cx="4114800" cy="201168"/>
          </a:xfrm>
          <a:prstGeom prst="rect">
            <a:avLst/>
          </a:prstGeom>
          <a:solidFill>
            <a:srgbClr val="F1F4F9"/>
          </a:solidFill>
        </p:spPr>
      </p:sp>
      <p:sp>
        <p:nvSpPr>
          <p:cNvPr id="6" name="Shape 4"/>
          <p:cNvSpPr/>
          <p:nvPr/>
        </p:nvSpPr>
        <p:spPr>
          <a:xfrm>
            <a:off x="3063240" y="1106424"/>
            <a:ext cx="3785616" cy="201168"/>
          </a:xfrm>
          <a:prstGeom prst="rect">
            <a:avLst/>
          </a:prstGeom>
          <a:solidFill>
            <a:srgbClr val="F5A623"/>
          </a:solidFill>
        </p:spPr>
      </p:sp>
      <p:sp>
        <p:nvSpPr>
          <p:cNvPr id="7" name="Text 5"/>
          <p:cNvSpPr/>
          <p:nvPr/>
        </p:nvSpPr>
        <p:spPr>
          <a:xfrm>
            <a:off x="7269480" y="1051560"/>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92%</a:t>
            </a:r>
            <a:endParaRPr lang="en-US" sz="950" dirty="0"/>
          </a:p>
        </p:txBody>
      </p:sp>
      <p:sp>
        <p:nvSpPr>
          <p:cNvPr id="8" name="Text 6"/>
          <p:cNvSpPr/>
          <p:nvPr/>
        </p:nvSpPr>
        <p:spPr>
          <a:xfrm>
            <a:off x="274320" y="1389888"/>
            <a:ext cx="2743200" cy="320040"/>
          </a:xfrm>
          <a:prstGeom prst="rect">
            <a:avLst/>
          </a:prstGeom>
          <a:noFill/>
        </p:spPr>
        <p:txBody>
          <a:bodyPr wrap="square" lIns="0" tIns="0" rIns="0" bIns="0" rtlCol="0" anchor="ctr"/>
          <a:lstStyle/>
          <a:p>
            <a:pPr marL="0" indent="0">
              <a:buNone/>
            </a:pPr>
            <a:r>
              <a:rPr lang="en-US" sz="1050" b="1" dirty="0">
                <a:solidFill>
                  <a:srgbClr val="1E293B"/>
                </a:solidFill>
                <a:latin typeface="Calibri" panose="020F0502020204030204" pitchFamily="34" charset="0"/>
                <a:ea typeface="Calibri" panose="020F0502020204030204" pitchFamily="34" charset="-122"/>
                <a:cs typeface="Calibri" panose="020F0502020204030204" pitchFamily="34" charset="-120"/>
              </a:rPr>
              <a:t>2. Annual Income</a:t>
            </a:r>
            <a:endParaRPr lang="en-US" sz="1050" dirty="0"/>
          </a:p>
        </p:txBody>
      </p:sp>
      <p:sp>
        <p:nvSpPr>
          <p:cNvPr id="9" name="Shape 7"/>
          <p:cNvSpPr/>
          <p:nvPr/>
        </p:nvSpPr>
        <p:spPr>
          <a:xfrm>
            <a:off x="3063240" y="1444752"/>
            <a:ext cx="4114800" cy="201168"/>
          </a:xfrm>
          <a:prstGeom prst="rect">
            <a:avLst/>
          </a:prstGeom>
          <a:solidFill>
            <a:srgbClr val="F1F4F9"/>
          </a:solidFill>
        </p:spPr>
      </p:sp>
      <p:sp>
        <p:nvSpPr>
          <p:cNvPr id="10" name="Shape 8"/>
          <p:cNvSpPr/>
          <p:nvPr/>
        </p:nvSpPr>
        <p:spPr>
          <a:xfrm>
            <a:off x="3063240" y="1444752"/>
            <a:ext cx="3086100" cy="201168"/>
          </a:xfrm>
          <a:prstGeom prst="rect">
            <a:avLst/>
          </a:prstGeom>
          <a:solidFill>
            <a:srgbClr val="1E2761"/>
          </a:solidFill>
        </p:spPr>
      </p:sp>
      <p:sp>
        <p:nvSpPr>
          <p:cNvPr id="11" name="Text 9"/>
          <p:cNvSpPr/>
          <p:nvPr/>
        </p:nvSpPr>
        <p:spPr>
          <a:xfrm>
            <a:off x="7269480" y="1389888"/>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75%</a:t>
            </a:r>
            <a:endParaRPr lang="en-US" sz="950" dirty="0"/>
          </a:p>
        </p:txBody>
      </p:sp>
      <p:sp>
        <p:nvSpPr>
          <p:cNvPr id="12" name="Text 10"/>
          <p:cNvSpPr/>
          <p:nvPr/>
        </p:nvSpPr>
        <p:spPr>
          <a:xfrm>
            <a:off x="274320" y="1728216"/>
            <a:ext cx="2743200" cy="320040"/>
          </a:xfrm>
          <a:prstGeom prst="rect">
            <a:avLst/>
          </a:prstGeom>
          <a:noFill/>
        </p:spPr>
        <p:txBody>
          <a:bodyPr wrap="square" lIns="0" tIns="0" rIns="0" bIns="0" rtlCol="0" anchor="ctr"/>
          <a:lstStyle/>
          <a:p>
            <a:pPr marL="0" indent="0">
              <a:buNone/>
            </a:pPr>
            <a:r>
              <a:rPr lang="en-US" sz="1050" b="1" dirty="0">
                <a:solidFill>
                  <a:srgbClr val="1E293B"/>
                </a:solidFill>
                <a:latin typeface="Calibri" panose="020F0502020204030204" pitchFamily="34" charset="0"/>
                <a:ea typeface="Calibri" panose="020F0502020204030204" pitchFamily="34" charset="-122"/>
                <a:cs typeface="Calibri" panose="020F0502020204030204" pitchFamily="34" charset="-120"/>
              </a:rPr>
              <a:t>3. Bank Asset Value</a:t>
            </a:r>
            <a:endParaRPr lang="en-US" sz="1050" dirty="0"/>
          </a:p>
        </p:txBody>
      </p:sp>
      <p:sp>
        <p:nvSpPr>
          <p:cNvPr id="13" name="Shape 11"/>
          <p:cNvSpPr/>
          <p:nvPr/>
        </p:nvSpPr>
        <p:spPr>
          <a:xfrm>
            <a:off x="3063240" y="1783080"/>
            <a:ext cx="4114800" cy="201168"/>
          </a:xfrm>
          <a:prstGeom prst="rect">
            <a:avLst/>
          </a:prstGeom>
          <a:solidFill>
            <a:srgbClr val="F1F4F9"/>
          </a:solidFill>
        </p:spPr>
      </p:sp>
      <p:sp>
        <p:nvSpPr>
          <p:cNvPr id="14" name="Shape 12"/>
          <p:cNvSpPr/>
          <p:nvPr/>
        </p:nvSpPr>
        <p:spPr>
          <a:xfrm>
            <a:off x="3063240" y="1783080"/>
            <a:ext cx="2386584" cy="201168"/>
          </a:xfrm>
          <a:prstGeom prst="rect">
            <a:avLst/>
          </a:prstGeom>
          <a:solidFill>
            <a:srgbClr val="0891B2"/>
          </a:solidFill>
        </p:spPr>
      </p:sp>
      <p:sp>
        <p:nvSpPr>
          <p:cNvPr id="15" name="Text 13"/>
          <p:cNvSpPr/>
          <p:nvPr/>
        </p:nvSpPr>
        <p:spPr>
          <a:xfrm>
            <a:off x="7269480" y="1728216"/>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58%</a:t>
            </a:r>
            <a:endParaRPr lang="en-US" sz="950" dirty="0"/>
          </a:p>
        </p:txBody>
      </p:sp>
      <p:sp>
        <p:nvSpPr>
          <p:cNvPr id="16" name="Text 14"/>
          <p:cNvSpPr/>
          <p:nvPr/>
        </p:nvSpPr>
        <p:spPr>
          <a:xfrm>
            <a:off x="274320" y="2066544"/>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4. Residential Assets</a:t>
            </a:r>
            <a:endParaRPr lang="en-US" sz="1050" dirty="0"/>
          </a:p>
        </p:txBody>
      </p:sp>
      <p:sp>
        <p:nvSpPr>
          <p:cNvPr id="17" name="Shape 15"/>
          <p:cNvSpPr/>
          <p:nvPr/>
        </p:nvSpPr>
        <p:spPr>
          <a:xfrm>
            <a:off x="3063240" y="2121408"/>
            <a:ext cx="4114800" cy="201168"/>
          </a:xfrm>
          <a:prstGeom prst="rect">
            <a:avLst/>
          </a:prstGeom>
          <a:solidFill>
            <a:srgbClr val="F1F4F9"/>
          </a:solidFill>
        </p:spPr>
      </p:sp>
      <p:sp>
        <p:nvSpPr>
          <p:cNvPr id="18" name="Shape 16"/>
          <p:cNvSpPr/>
          <p:nvPr/>
        </p:nvSpPr>
        <p:spPr>
          <a:xfrm>
            <a:off x="3063240" y="2121408"/>
            <a:ext cx="2057400" cy="201168"/>
          </a:xfrm>
          <a:prstGeom prst="rect">
            <a:avLst/>
          </a:prstGeom>
          <a:solidFill>
            <a:srgbClr val="253080"/>
          </a:solidFill>
        </p:spPr>
      </p:sp>
      <p:sp>
        <p:nvSpPr>
          <p:cNvPr id="19" name="Text 17"/>
          <p:cNvSpPr/>
          <p:nvPr/>
        </p:nvSpPr>
        <p:spPr>
          <a:xfrm>
            <a:off x="7269480" y="2066544"/>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50%</a:t>
            </a:r>
            <a:endParaRPr lang="en-US" sz="950" dirty="0"/>
          </a:p>
        </p:txBody>
      </p:sp>
      <p:sp>
        <p:nvSpPr>
          <p:cNvPr id="20" name="Text 18"/>
          <p:cNvSpPr/>
          <p:nvPr/>
        </p:nvSpPr>
        <p:spPr>
          <a:xfrm>
            <a:off x="274320" y="2404872"/>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5. Loan Amount</a:t>
            </a:r>
            <a:endParaRPr lang="en-US" sz="1050" dirty="0"/>
          </a:p>
        </p:txBody>
      </p:sp>
      <p:sp>
        <p:nvSpPr>
          <p:cNvPr id="21" name="Shape 19"/>
          <p:cNvSpPr/>
          <p:nvPr/>
        </p:nvSpPr>
        <p:spPr>
          <a:xfrm>
            <a:off x="3063240" y="2459736"/>
            <a:ext cx="4114800" cy="201168"/>
          </a:xfrm>
          <a:prstGeom prst="rect">
            <a:avLst/>
          </a:prstGeom>
          <a:solidFill>
            <a:srgbClr val="F1F4F9"/>
          </a:solidFill>
        </p:spPr>
      </p:sp>
      <p:sp>
        <p:nvSpPr>
          <p:cNvPr id="22" name="Shape 20"/>
          <p:cNvSpPr/>
          <p:nvPr/>
        </p:nvSpPr>
        <p:spPr>
          <a:xfrm>
            <a:off x="3063240" y="2459736"/>
            <a:ext cx="1728216" cy="201168"/>
          </a:xfrm>
          <a:prstGeom prst="rect">
            <a:avLst/>
          </a:prstGeom>
          <a:solidFill>
            <a:srgbClr val="27AE60"/>
          </a:solidFill>
        </p:spPr>
      </p:sp>
      <p:sp>
        <p:nvSpPr>
          <p:cNvPr id="23" name="Text 21"/>
          <p:cNvSpPr/>
          <p:nvPr/>
        </p:nvSpPr>
        <p:spPr>
          <a:xfrm>
            <a:off x="7269480" y="2404872"/>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42%</a:t>
            </a:r>
            <a:endParaRPr lang="en-US" sz="950" dirty="0"/>
          </a:p>
        </p:txBody>
      </p:sp>
      <p:sp>
        <p:nvSpPr>
          <p:cNvPr id="24" name="Text 22"/>
          <p:cNvSpPr/>
          <p:nvPr/>
        </p:nvSpPr>
        <p:spPr>
          <a:xfrm>
            <a:off x="274320" y="2743200"/>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6. Commercial Assets</a:t>
            </a:r>
            <a:endParaRPr lang="en-US" sz="1050" dirty="0"/>
          </a:p>
        </p:txBody>
      </p:sp>
      <p:sp>
        <p:nvSpPr>
          <p:cNvPr id="25" name="Shape 23"/>
          <p:cNvSpPr/>
          <p:nvPr/>
        </p:nvSpPr>
        <p:spPr>
          <a:xfrm>
            <a:off x="3063240" y="2798064"/>
            <a:ext cx="4114800" cy="201168"/>
          </a:xfrm>
          <a:prstGeom prst="rect">
            <a:avLst/>
          </a:prstGeom>
          <a:solidFill>
            <a:srgbClr val="F1F4F9"/>
          </a:solidFill>
        </p:spPr>
      </p:sp>
      <p:sp>
        <p:nvSpPr>
          <p:cNvPr id="26" name="Shape 24"/>
          <p:cNvSpPr/>
          <p:nvPr/>
        </p:nvSpPr>
        <p:spPr>
          <a:xfrm>
            <a:off x="3063240" y="2798064"/>
            <a:ext cx="1440180" cy="201168"/>
          </a:xfrm>
          <a:prstGeom prst="rect">
            <a:avLst/>
          </a:prstGeom>
          <a:solidFill>
            <a:srgbClr val="64748B"/>
          </a:solidFill>
        </p:spPr>
      </p:sp>
      <p:sp>
        <p:nvSpPr>
          <p:cNvPr id="27" name="Text 25"/>
          <p:cNvSpPr/>
          <p:nvPr/>
        </p:nvSpPr>
        <p:spPr>
          <a:xfrm>
            <a:off x="7269480" y="2743200"/>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35%</a:t>
            </a:r>
            <a:endParaRPr lang="en-US" sz="950" dirty="0"/>
          </a:p>
        </p:txBody>
      </p:sp>
      <p:sp>
        <p:nvSpPr>
          <p:cNvPr id="28" name="Text 26"/>
          <p:cNvSpPr/>
          <p:nvPr/>
        </p:nvSpPr>
        <p:spPr>
          <a:xfrm>
            <a:off x="274320" y="3081528"/>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7. Luxury Assets</a:t>
            </a:r>
            <a:endParaRPr lang="en-US" sz="1050" dirty="0"/>
          </a:p>
        </p:txBody>
      </p:sp>
      <p:sp>
        <p:nvSpPr>
          <p:cNvPr id="29" name="Shape 27"/>
          <p:cNvSpPr/>
          <p:nvPr/>
        </p:nvSpPr>
        <p:spPr>
          <a:xfrm>
            <a:off x="3063240" y="3136392"/>
            <a:ext cx="4114800" cy="201168"/>
          </a:xfrm>
          <a:prstGeom prst="rect">
            <a:avLst/>
          </a:prstGeom>
          <a:solidFill>
            <a:srgbClr val="F1F4F9"/>
          </a:solidFill>
        </p:spPr>
      </p:sp>
      <p:sp>
        <p:nvSpPr>
          <p:cNvPr id="30" name="Shape 28"/>
          <p:cNvSpPr/>
          <p:nvPr/>
        </p:nvSpPr>
        <p:spPr>
          <a:xfrm>
            <a:off x="3063240" y="3136392"/>
            <a:ext cx="1152144" cy="201168"/>
          </a:xfrm>
          <a:prstGeom prst="rect">
            <a:avLst/>
          </a:prstGeom>
          <a:solidFill>
            <a:srgbClr val="64748B"/>
          </a:solidFill>
        </p:spPr>
      </p:sp>
      <p:sp>
        <p:nvSpPr>
          <p:cNvPr id="31" name="Text 29"/>
          <p:cNvSpPr/>
          <p:nvPr/>
        </p:nvSpPr>
        <p:spPr>
          <a:xfrm>
            <a:off x="7269480" y="3081528"/>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28%</a:t>
            </a:r>
            <a:endParaRPr lang="en-US" sz="950" dirty="0"/>
          </a:p>
        </p:txBody>
      </p:sp>
      <p:sp>
        <p:nvSpPr>
          <p:cNvPr id="32" name="Text 30"/>
          <p:cNvSpPr/>
          <p:nvPr/>
        </p:nvSpPr>
        <p:spPr>
          <a:xfrm>
            <a:off x="274320" y="3419856"/>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8. Loan Term</a:t>
            </a:r>
            <a:endParaRPr lang="en-US" sz="1050" dirty="0"/>
          </a:p>
        </p:txBody>
      </p:sp>
      <p:sp>
        <p:nvSpPr>
          <p:cNvPr id="33" name="Shape 31"/>
          <p:cNvSpPr/>
          <p:nvPr/>
        </p:nvSpPr>
        <p:spPr>
          <a:xfrm>
            <a:off x="3063240" y="3474720"/>
            <a:ext cx="4114800" cy="201168"/>
          </a:xfrm>
          <a:prstGeom prst="rect">
            <a:avLst/>
          </a:prstGeom>
          <a:solidFill>
            <a:srgbClr val="F1F4F9"/>
          </a:solidFill>
        </p:spPr>
      </p:sp>
      <p:sp>
        <p:nvSpPr>
          <p:cNvPr id="34" name="Shape 32"/>
          <p:cNvSpPr/>
          <p:nvPr/>
        </p:nvSpPr>
        <p:spPr>
          <a:xfrm>
            <a:off x="3063240" y="3474720"/>
            <a:ext cx="740664" cy="201168"/>
          </a:xfrm>
          <a:prstGeom prst="rect">
            <a:avLst/>
          </a:prstGeom>
          <a:solidFill>
            <a:srgbClr val="64748B"/>
          </a:solidFill>
        </p:spPr>
      </p:sp>
      <p:sp>
        <p:nvSpPr>
          <p:cNvPr id="35" name="Text 33"/>
          <p:cNvSpPr/>
          <p:nvPr/>
        </p:nvSpPr>
        <p:spPr>
          <a:xfrm>
            <a:off x="7269480" y="3419856"/>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18%</a:t>
            </a:r>
            <a:endParaRPr lang="en-US" sz="950" dirty="0"/>
          </a:p>
        </p:txBody>
      </p:sp>
      <p:sp>
        <p:nvSpPr>
          <p:cNvPr id="36" name="Text 34"/>
          <p:cNvSpPr/>
          <p:nvPr/>
        </p:nvSpPr>
        <p:spPr>
          <a:xfrm>
            <a:off x="274320" y="3758184"/>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9. No. of Dependents</a:t>
            </a:r>
            <a:endParaRPr lang="en-US" sz="1050" dirty="0"/>
          </a:p>
        </p:txBody>
      </p:sp>
      <p:sp>
        <p:nvSpPr>
          <p:cNvPr id="37" name="Shape 35"/>
          <p:cNvSpPr/>
          <p:nvPr/>
        </p:nvSpPr>
        <p:spPr>
          <a:xfrm>
            <a:off x="3063240" y="3813048"/>
            <a:ext cx="4114800" cy="201168"/>
          </a:xfrm>
          <a:prstGeom prst="rect">
            <a:avLst/>
          </a:prstGeom>
          <a:solidFill>
            <a:srgbClr val="F1F4F9"/>
          </a:solidFill>
        </p:spPr>
      </p:sp>
      <p:sp>
        <p:nvSpPr>
          <p:cNvPr id="38" name="Shape 36"/>
          <p:cNvSpPr/>
          <p:nvPr/>
        </p:nvSpPr>
        <p:spPr>
          <a:xfrm>
            <a:off x="3063240" y="3813048"/>
            <a:ext cx="493776" cy="201168"/>
          </a:xfrm>
          <a:prstGeom prst="rect">
            <a:avLst/>
          </a:prstGeom>
          <a:solidFill>
            <a:srgbClr val="64748B"/>
          </a:solidFill>
        </p:spPr>
      </p:sp>
      <p:sp>
        <p:nvSpPr>
          <p:cNvPr id="39" name="Text 37"/>
          <p:cNvSpPr/>
          <p:nvPr/>
        </p:nvSpPr>
        <p:spPr>
          <a:xfrm>
            <a:off x="7269480" y="3758184"/>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12%</a:t>
            </a:r>
            <a:endParaRPr lang="en-US" sz="950" dirty="0"/>
          </a:p>
        </p:txBody>
      </p:sp>
      <p:sp>
        <p:nvSpPr>
          <p:cNvPr id="40" name="Text 38"/>
          <p:cNvSpPr/>
          <p:nvPr/>
        </p:nvSpPr>
        <p:spPr>
          <a:xfrm>
            <a:off x="274320" y="4096512"/>
            <a:ext cx="2743200" cy="320040"/>
          </a:xfrm>
          <a:prstGeom prst="rect">
            <a:avLst/>
          </a:prstGeom>
          <a:noFill/>
        </p:spPr>
        <p:txBody>
          <a:bodyPr wrap="square" lIns="0" tIns="0" rIns="0" bIns="0"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10. Education</a:t>
            </a:r>
            <a:endParaRPr lang="en-US" sz="1050" dirty="0"/>
          </a:p>
        </p:txBody>
      </p:sp>
      <p:sp>
        <p:nvSpPr>
          <p:cNvPr id="41" name="Shape 39"/>
          <p:cNvSpPr/>
          <p:nvPr/>
        </p:nvSpPr>
        <p:spPr>
          <a:xfrm>
            <a:off x="3063240" y="4151376"/>
            <a:ext cx="4114800" cy="201168"/>
          </a:xfrm>
          <a:prstGeom prst="rect">
            <a:avLst/>
          </a:prstGeom>
          <a:solidFill>
            <a:srgbClr val="F1F4F9"/>
          </a:solidFill>
        </p:spPr>
      </p:sp>
      <p:sp>
        <p:nvSpPr>
          <p:cNvPr id="42" name="Shape 40"/>
          <p:cNvSpPr/>
          <p:nvPr/>
        </p:nvSpPr>
        <p:spPr>
          <a:xfrm>
            <a:off x="3063240" y="4151376"/>
            <a:ext cx="329184" cy="201168"/>
          </a:xfrm>
          <a:prstGeom prst="rect">
            <a:avLst/>
          </a:prstGeom>
          <a:solidFill>
            <a:srgbClr val="64748B"/>
          </a:solidFill>
        </p:spPr>
      </p:sp>
      <p:sp>
        <p:nvSpPr>
          <p:cNvPr id="43" name="Text 41"/>
          <p:cNvSpPr/>
          <p:nvPr/>
        </p:nvSpPr>
        <p:spPr>
          <a:xfrm>
            <a:off x="7269480" y="4096512"/>
            <a:ext cx="457200" cy="320040"/>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8%</a:t>
            </a:r>
            <a:endParaRPr lang="en-US" sz="950" dirty="0"/>
          </a:p>
        </p:txBody>
      </p:sp>
      <p:sp>
        <p:nvSpPr>
          <p:cNvPr id="44" name="Shape 42"/>
          <p:cNvSpPr/>
          <p:nvPr/>
        </p:nvSpPr>
        <p:spPr>
          <a:xfrm>
            <a:off x="7498080" y="1051560"/>
            <a:ext cx="1417320" cy="3520440"/>
          </a:xfrm>
          <a:prstGeom prst="rect">
            <a:avLst/>
          </a:prstGeom>
          <a:solidFill>
            <a:srgbClr val="E8EFFD"/>
          </a:solidFill>
          <a:effectLst>
            <a:outerShdw blurRad="101600" dist="25400" dir="8100000" algn="bl" rotWithShape="0">
              <a:srgbClr val="000000">
                <a:alpha val="12000"/>
              </a:srgbClr>
            </a:outerShdw>
          </a:effectLst>
        </p:spPr>
      </p:sp>
      <p:sp>
        <p:nvSpPr>
          <p:cNvPr id="45" name="Text 43"/>
          <p:cNvSpPr/>
          <p:nvPr/>
        </p:nvSpPr>
        <p:spPr>
          <a:xfrm>
            <a:off x="7498080" y="1097280"/>
            <a:ext cx="1417320" cy="457200"/>
          </a:xfrm>
          <a:prstGeom prst="rect">
            <a:avLst/>
          </a:prstGeom>
          <a:noFill/>
        </p:spPr>
        <p:txBody>
          <a:bodyPr wrap="square" lIns="0" tIns="0" rIns="0" bIns="0" rtlCol="0" anchor="ctr"/>
          <a:lstStyle/>
          <a:p>
            <a:pPr marL="0" indent="0" algn="ctr">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Top</a:t>
            </a:r>
            <a:endParaRPr lang="en-US" sz="1100" dirty="0"/>
          </a:p>
          <a:p>
            <a:pPr marL="0" indent="0" algn="ctr">
              <a:buNone/>
            </a:pPr>
            <a:r>
              <a:rPr lang="en-US" sz="11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Insights</a:t>
            </a:r>
            <a:endParaRPr lang="en-US" sz="1100" dirty="0"/>
          </a:p>
        </p:txBody>
      </p:sp>
      <p:sp>
        <p:nvSpPr>
          <p:cNvPr id="46" name="Shape 44"/>
          <p:cNvSpPr/>
          <p:nvPr/>
        </p:nvSpPr>
        <p:spPr>
          <a:xfrm>
            <a:off x="7543800" y="1600200"/>
            <a:ext cx="1280160" cy="640080"/>
          </a:xfrm>
          <a:prstGeom prst="rect">
            <a:avLst/>
          </a:prstGeom>
          <a:solidFill>
            <a:srgbClr val="F5A623"/>
          </a:solidFill>
          <a:effectLst>
            <a:outerShdw blurRad="101600" dist="25400" dir="8100000" algn="bl" rotWithShape="0">
              <a:srgbClr val="000000">
                <a:alpha val="12000"/>
              </a:srgbClr>
            </a:outerShdw>
          </a:effectLst>
        </p:spPr>
      </p:sp>
      <p:sp>
        <p:nvSpPr>
          <p:cNvPr id="47" name="Text 45"/>
          <p:cNvSpPr/>
          <p:nvPr/>
        </p:nvSpPr>
        <p:spPr>
          <a:xfrm>
            <a:off x="7543800" y="1600200"/>
            <a:ext cx="1280160" cy="640080"/>
          </a:xfrm>
          <a:prstGeom prst="rect">
            <a:avLst/>
          </a:prstGeom>
          <a:noFill/>
        </p:spPr>
        <p:txBody>
          <a:bodyPr wrap="square" lIns="0" tIns="0" rIns="0" bIns="0" rtlCol="0" anchor="ctr"/>
          <a:lstStyle/>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CIBIL</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is #1</a:t>
            </a:r>
            <a:endParaRPr lang="en-US" sz="850" dirty="0"/>
          </a:p>
        </p:txBody>
      </p:sp>
      <p:sp>
        <p:nvSpPr>
          <p:cNvPr id="48" name="Shape 46"/>
          <p:cNvSpPr/>
          <p:nvPr/>
        </p:nvSpPr>
        <p:spPr>
          <a:xfrm>
            <a:off x="7543800" y="2304288"/>
            <a:ext cx="1280160" cy="640080"/>
          </a:xfrm>
          <a:prstGeom prst="rect">
            <a:avLst/>
          </a:prstGeom>
          <a:solidFill>
            <a:srgbClr val="1E2761"/>
          </a:solidFill>
          <a:effectLst>
            <a:outerShdw blurRad="101600" dist="25400" dir="8100000" algn="bl" rotWithShape="0">
              <a:srgbClr val="000000">
                <a:alpha val="12000"/>
              </a:srgbClr>
            </a:outerShdw>
          </a:effectLst>
        </p:spPr>
      </p:sp>
      <p:sp>
        <p:nvSpPr>
          <p:cNvPr id="49" name="Text 47"/>
          <p:cNvSpPr/>
          <p:nvPr/>
        </p:nvSpPr>
        <p:spPr>
          <a:xfrm>
            <a:off x="7543800" y="2304288"/>
            <a:ext cx="1280160" cy="640080"/>
          </a:xfrm>
          <a:prstGeom prst="rect">
            <a:avLst/>
          </a:prstGeom>
          <a:noFill/>
        </p:spPr>
        <p:txBody>
          <a:bodyPr wrap="square" lIns="0" tIns="0" rIns="0" bIns="0" rtlCol="0" anchor="ctr"/>
          <a:lstStyle/>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Income</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matters</a:t>
            </a:r>
            <a:endParaRPr lang="en-US" sz="850" dirty="0"/>
          </a:p>
        </p:txBody>
      </p:sp>
      <p:sp>
        <p:nvSpPr>
          <p:cNvPr id="50" name="Shape 48"/>
          <p:cNvSpPr/>
          <p:nvPr/>
        </p:nvSpPr>
        <p:spPr>
          <a:xfrm>
            <a:off x="7543800" y="3008376"/>
            <a:ext cx="1280160" cy="640080"/>
          </a:xfrm>
          <a:prstGeom prst="rect">
            <a:avLst/>
          </a:prstGeom>
          <a:solidFill>
            <a:srgbClr val="0891B2"/>
          </a:solidFill>
          <a:effectLst>
            <a:outerShdw blurRad="101600" dist="25400" dir="8100000" algn="bl" rotWithShape="0">
              <a:srgbClr val="000000">
                <a:alpha val="12000"/>
              </a:srgbClr>
            </a:outerShdw>
          </a:effectLst>
        </p:spPr>
      </p:sp>
      <p:sp>
        <p:nvSpPr>
          <p:cNvPr id="51" name="Text 49"/>
          <p:cNvSpPr/>
          <p:nvPr/>
        </p:nvSpPr>
        <p:spPr>
          <a:xfrm>
            <a:off x="7543800" y="3008376"/>
            <a:ext cx="1280160" cy="640080"/>
          </a:xfrm>
          <a:prstGeom prst="rect">
            <a:avLst/>
          </a:prstGeom>
          <a:noFill/>
        </p:spPr>
        <p:txBody>
          <a:bodyPr wrap="square" lIns="0" tIns="0" rIns="0" bIns="0" rtlCol="0" anchor="ctr"/>
          <a:lstStyle/>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Assets</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count</a:t>
            </a:r>
            <a:endParaRPr lang="en-US" sz="850" dirty="0"/>
          </a:p>
        </p:txBody>
      </p:sp>
      <p:sp>
        <p:nvSpPr>
          <p:cNvPr id="52" name="Shape 50"/>
          <p:cNvSpPr/>
          <p:nvPr/>
        </p:nvSpPr>
        <p:spPr>
          <a:xfrm>
            <a:off x="7543800" y="3712464"/>
            <a:ext cx="1280160" cy="640080"/>
          </a:xfrm>
          <a:prstGeom prst="rect">
            <a:avLst/>
          </a:prstGeom>
          <a:solidFill>
            <a:srgbClr val="253080"/>
          </a:solidFill>
          <a:effectLst>
            <a:outerShdw blurRad="101600" dist="25400" dir="8100000" algn="bl" rotWithShape="0">
              <a:srgbClr val="000000">
                <a:alpha val="12000"/>
              </a:srgbClr>
            </a:outerShdw>
          </a:effectLst>
        </p:spPr>
      </p:sp>
      <p:sp>
        <p:nvSpPr>
          <p:cNvPr id="53" name="Text 51"/>
          <p:cNvSpPr/>
          <p:nvPr/>
        </p:nvSpPr>
        <p:spPr>
          <a:xfrm>
            <a:off x="7543800" y="3712464"/>
            <a:ext cx="1280160" cy="640080"/>
          </a:xfrm>
          <a:prstGeom prst="rect">
            <a:avLst/>
          </a:prstGeom>
          <a:noFill/>
        </p:spPr>
        <p:txBody>
          <a:bodyPr wrap="square" lIns="0" tIns="0" rIns="0" bIns="0" rtlCol="0" anchor="ctr"/>
          <a:lstStyle/>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Ensemble</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models</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reveal</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best</a:t>
            </a:r>
            <a:endParaRPr lang="en-US" sz="850" dirty="0"/>
          </a:p>
          <a:p>
            <a:pPr marL="0" indent="0" algn="ctr">
              <a:buNone/>
            </a:pPr>
            <a:r>
              <a:rPr lang="en-US" sz="850" dirty="0">
                <a:solidFill>
                  <a:srgbClr val="FFFFFF"/>
                </a:solidFill>
                <a:latin typeface="Calibri" panose="020F0502020204030204" pitchFamily="34" charset="0"/>
                <a:ea typeface="Calibri" panose="020F0502020204030204" pitchFamily="34" charset="-122"/>
                <a:cs typeface="Calibri" panose="020F0502020204030204" pitchFamily="34" charset="-120"/>
              </a:rPr>
              <a:t>features</a:t>
            </a:r>
            <a:endParaRPr lang="en-US" sz="850" dirty="0"/>
          </a:p>
        </p:txBody>
      </p:sp>
      <p:sp>
        <p:nvSpPr>
          <p:cNvPr id="54" name="Shape 52"/>
          <p:cNvSpPr/>
          <p:nvPr/>
        </p:nvSpPr>
        <p:spPr>
          <a:xfrm>
            <a:off x="274320" y="4663440"/>
            <a:ext cx="8595360" cy="384048"/>
          </a:xfrm>
          <a:prstGeom prst="rect">
            <a:avLst/>
          </a:prstGeom>
          <a:solidFill>
            <a:srgbClr val="1E2761"/>
          </a:solidFill>
        </p:spPr>
      </p:sp>
      <p:sp>
        <p:nvSpPr>
          <p:cNvPr id="55" name="Text 53"/>
          <p:cNvSpPr/>
          <p:nvPr/>
        </p:nvSpPr>
        <p:spPr>
          <a:xfrm>
            <a:off x="274320" y="4663440"/>
            <a:ext cx="8595360" cy="384048"/>
          </a:xfrm>
          <a:prstGeom prst="rect">
            <a:avLst/>
          </a:prstGeom>
          <a:noFill/>
        </p:spPr>
        <p:txBody>
          <a:bodyPr wrap="square" lIns="0" tIns="0" rIns="0" bIns="0" rtlCol="0" anchor="ctr"/>
          <a:lstStyle/>
          <a:p>
            <a:pPr marL="0" indent="0" algn="ctr">
              <a:buNone/>
            </a:pPr>
            <a:r>
              <a:rPr lang="en-US" sz="1000" i="1" dirty="0">
                <a:solidFill>
                  <a:srgbClr val="CADCFC"/>
                </a:solidFill>
                <a:latin typeface="Calibri" panose="020F0502020204030204" pitchFamily="34" charset="0"/>
                <a:ea typeface="Calibri" panose="020F0502020204030204" pitchFamily="34" charset="-122"/>
                <a:cs typeface="Calibri" panose="020F0502020204030204" pitchFamily="34" charset="-120"/>
              </a:rPr>
              <a:t>📝  Note: Importance values shown are indicative. Replace with actual values from your notebook output.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Streamlit Web Application</a:t>
            </a:r>
            <a:endParaRPr lang="en-US" sz="2400" dirty="0"/>
          </a:p>
        </p:txBody>
      </p:sp>
      <p:sp>
        <p:nvSpPr>
          <p:cNvPr id="4" name="Shape 2"/>
          <p:cNvSpPr/>
          <p:nvPr/>
        </p:nvSpPr>
        <p:spPr>
          <a:xfrm>
            <a:off x="274320" y="1097280"/>
            <a:ext cx="4206240" cy="301752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5" name="Shape 3"/>
          <p:cNvSpPr/>
          <p:nvPr/>
        </p:nvSpPr>
        <p:spPr>
          <a:xfrm>
            <a:off x="274320" y="1097280"/>
            <a:ext cx="4206240" cy="54864"/>
          </a:xfrm>
          <a:prstGeom prst="rect">
            <a:avLst/>
          </a:prstGeom>
          <a:solidFill>
            <a:srgbClr val="0891B2"/>
          </a:solidFill>
        </p:spPr>
      </p:sp>
      <p:sp>
        <p:nvSpPr>
          <p:cNvPr id="6" name="Text 4"/>
          <p:cNvSpPr/>
          <p:nvPr/>
        </p:nvSpPr>
        <p:spPr>
          <a:xfrm>
            <a:off x="365760" y="1170432"/>
            <a:ext cx="3977640" cy="365760"/>
          </a:xfrm>
          <a:prstGeom prst="rect">
            <a:avLst/>
          </a:prstGeom>
          <a:noFill/>
        </p:spPr>
        <p:txBody>
          <a:bodyPr wrap="square" lIns="0" tIns="0" rIns="0" bIns="0"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  App Interface</a:t>
            </a:r>
            <a:endParaRPr lang="en-US" sz="1200" dirty="0"/>
          </a:p>
        </p:txBody>
      </p:sp>
      <p:sp>
        <p:nvSpPr>
          <p:cNvPr id="7" name="Text 5"/>
          <p:cNvSpPr/>
          <p:nvPr/>
        </p:nvSpPr>
        <p:spPr>
          <a:xfrm>
            <a:off x="365760" y="1828800"/>
            <a:ext cx="3977640" cy="128016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Screenshot: images/app_interface.png ]</a:t>
            </a:r>
            <a:endParaRPr lang="en-US" sz="1000" dirty="0"/>
          </a:p>
        </p:txBody>
      </p:sp>
      <p:sp>
        <p:nvSpPr>
          <p:cNvPr id="8" name="Text 6"/>
          <p:cNvSpPr/>
          <p:nvPr/>
        </p:nvSpPr>
        <p:spPr>
          <a:xfrm>
            <a:off x="365760" y="3291840"/>
            <a:ext cx="3977640" cy="640080"/>
          </a:xfrm>
          <a:prstGeom prst="rect">
            <a:avLst/>
          </a:prstGeom>
          <a:noFill/>
        </p:spPr>
        <p:txBody>
          <a:bodyPr wrap="square" lIns="0" tIns="0" rIns="0" bIns="0" rtlCol="0" anchor="ctr"/>
          <a:lstStyle/>
          <a:p>
            <a:pPr marL="0" indent="0" algn="ctr">
              <a:buNone/>
            </a:pPr>
            <a:r>
              <a:rPr lang="en-US" sz="900" i="1" dirty="0">
                <a:solidFill>
                  <a:srgbClr val="CBD5E1"/>
                </a:solidFill>
                <a:latin typeface="Calibri" panose="020F0502020204030204" pitchFamily="34" charset="0"/>
                <a:ea typeface="Calibri" panose="020F0502020204030204" pitchFamily="34" charset="-122"/>
                <a:cs typeface="Calibri" panose="020F0502020204030204" pitchFamily="34" charset="-120"/>
              </a:rPr>
              <a:t>Replace this box with your actual screenshot</a:t>
            </a:r>
            <a:endParaRPr lang="en-US" sz="900" dirty="0"/>
          </a:p>
        </p:txBody>
      </p:sp>
      <p:sp>
        <p:nvSpPr>
          <p:cNvPr id="9" name="Shape 7"/>
          <p:cNvSpPr/>
          <p:nvPr/>
        </p:nvSpPr>
        <p:spPr>
          <a:xfrm>
            <a:off x="4709160" y="1097280"/>
            <a:ext cx="4206240" cy="3017520"/>
          </a:xfrm>
          <a:prstGeom prst="rect">
            <a:avLst/>
          </a:prstGeom>
          <a:solidFill>
            <a:srgbClr val="F1F4F9"/>
          </a:solidFill>
          <a:ln w="6350">
            <a:solidFill>
              <a:srgbClr val="CBD5E1"/>
            </a:solidFill>
            <a:prstDash val="solid"/>
          </a:ln>
          <a:effectLst>
            <a:outerShdw blurRad="101600" dist="25400" dir="8100000" algn="bl" rotWithShape="0">
              <a:srgbClr val="000000">
                <a:alpha val="12000"/>
              </a:srgbClr>
            </a:outerShdw>
          </a:effectLst>
        </p:spPr>
      </p:sp>
      <p:sp>
        <p:nvSpPr>
          <p:cNvPr id="10" name="Shape 8"/>
          <p:cNvSpPr/>
          <p:nvPr/>
        </p:nvSpPr>
        <p:spPr>
          <a:xfrm>
            <a:off x="4709160" y="1097280"/>
            <a:ext cx="4206240" cy="54864"/>
          </a:xfrm>
          <a:prstGeom prst="rect">
            <a:avLst/>
          </a:prstGeom>
          <a:solidFill>
            <a:srgbClr val="0891B2"/>
          </a:solidFill>
        </p:spPr>
      </p:sp>
      <p:sp>
        <p:nvSpPr>
          <p:cNvPr id="11" name="Text 9"/>
          <p:cNvSpPr/>
          <p:nvPr/>
        </p:nvSpPr>
        <p:spPr>
          <a:xfrm>
            <a:off x="4800600" y="1170432"/>
            <a:ext cx="3977640" cy="365760"/>
          </a:xfrm>
          <a:prstGeom prst="rect">
            <a:avLst/>
          </a:prstGeom>
          <a:noFill/>
        </p:spPr>
        <p:txBody>
          <a:bodyPr wrap="square" lIns="0" tIns="0" rIns="0" bIns="0" rtlCol="0" anchor="ctr"/>
          <a:lstStyle/>
          <a:p>
            <a:pPr marL="0" indent="0">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  Prediction Result</a:t>
            </a:r>
            <a:endParaRPr lang="en-US" sz="1200" dirty="0"/>
          </a:p>
        </p:txBody>
      </p:sp>
      <p:sp>
        <p:nvSpPr>
          <p:cNvPr id="12" name="Text 10"/>
          <p:cNvSpPr/>
          <p:nvPr/>
        </p:nvSpPr>
        <p:spPr>
          <a:xfrm>
            <a:off x="4800600" y="1828800"/>
            <a:ext cx="3977640" cy="1280160"/>
          </a:xfrm>
          <a:prstGeom prst="rect">
            <a:avLst/>
          </a:prstGeom>
          <a:noFill/>
        </p:spPr>
        <p:txBody>
          <a:bodyPr wrap="square" lIns="0" tIns="0" rIns="0" bIns="0" rtlCol="0" anchor="ctr"/>
          <a:lstStyle/>
          <a:p>
            <a:pPr marL="0" indent="0" algn="ctr">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 Screenshot: images/prediction_result.png ]</a:t>
            </a:r>
            <a:endParaRPr lang="en-US" sz="1000" dirty="0"/>
          </a:p>
        </p:txBody>
      </p:sp>
      <p:sp>
        <p:nvSpPr>
          <p:cNvPr id="13" name="Text 11"/>
          <p:cNvSpPr/>
          <p:nvPr/>
        </p:nvSpPr>
        <p:spPr>
          <a:xfrm>
            <a:off x="4800600" y="3291840"/>
            <a:ext cx="3977640" cy="640080"/>
          </a:xfrm>
          <a:prstGeom prst="rect">
            <a:avLst/>
          </a:prstGeom>
          <a:noFill/>
        </p:spPr>
        <p:txBody>
          <a:bodyPr wrap="square" lIns="0" tIns="0" rIns="0" bIns="0" rtlCol="0" anchor="ctr"/>
          <a:lstStyle/>
          <a:p>
            <a:pPr marL="0" indent="0" algn="ctr">
              <a:buNone/>
            </a:pPr>
            <a:r>
              <a:rPr lang="en-US" sz="900" i="1" dirty="0">
                <a:solidFill>
                  <a:srgbClr val="CBD5E1"/>
                </a:solidFill>
                <a:latin typeface="Calibri" panose="020F0502020204030204" pitchFamily="34" charset="0"/>
                <a:ea typeface="Calibri" panose="020F0502020204030204" pitchFamily="34" charset="-122"/>
                <a:cs typeface="Calibri" panose="020F0502020204030204" pitchFamily="34" charset="-120"/>
              </a:rPr>
              <a:t>Replace this box with your actual screenshot</a:t>
            </a:r>
            <a:endParaRPr lang="en-US" sz="900" dirty="0"/>
          </a:p>
        </p:txBody>
      </p:sp>
      <p:sp>
        <p:nvSpPr>
          <p:cNvPr id="14" name="Text 12"/>
          <p:cNvSpPr/>
          <p:nvPr/>
        </p:nvSpPr>
        <p:spPr>
          <a:xfrm>
            <a:off x="274320" y="4206240"/>
            <a:ext cx="8595360" cy="868680"/>
          </a:xfrm>
          <a:prstGeom prst="rect">
            <a:avLst/>
          </a:prstGeom>
          <a:noFill/>
        </p:spPr>
        <p:txBody>
          <a:bodyPr wrap="square" lIns="0" tIns="0" rIns="0" bIns="0" rtlCol="0" anchor="ctr"/>
          <a:lstStyle/>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Enter all applicant details via interactive form</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Model predicts loan approval instantly</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Confidence score displayed with result</a:t>
            </a:r>
            <a:endParaRPr lang="en-US" sz="1100" dirty="0"/>
          </a:p>
          <a:p>
            <a:pPr marL="342900" indent="-342900">
              <a:buSzPct val="100000"/>
              <a:buChar char="•"/>
            </a:pPr>
            <a:r>
              <a:rPr lang="en-US" sz="1100" dirty="0">
                <a:solidFill>
                  <a:srgbClr val="1E293B"/>
                </a:solidFill>
                <a:latin typeface="Calibri" panose="020F0502020204030204" pitchFamily="34" charset="0"/>
                <a:ea typeface="Calibri" panose="020F0502020204030204" pitchFamily="34" charset="-122"/>
                <a:cs typeface="Calibri" panose="020F0502020204030204" pitchFamily="34" charset="-120"/>
              </a:rPr>
              <a:t>✅ / ❌  Clear Approved or Rejected output</a:t>
            </a:r>
            <a:endParaRPr lang="en-US" sz="1100" dirty="0"/>
          </a:p>
        </p:txBody>
      </p:sp>
      <p:pic>
        <p:nvPicPr>
          <p:cNvPr id="15" name="Picture 14" descr="app_interface"/>
          <p:cNvPicPr>
            <a:picLocks noChangeAspect="1"/>
          </p:cNvPicPr>
          <p:nvPr/>
        </p:nvPicPr>
        <p:blipFill>
          <a:blip r:embed="rId1"/>
          <a:stretch>
            <a:fillRect/>
          </a:stretch>
        </p:blipFill>
        <p:spPr>
          <a:xfrm>
            <a:off x="274320" y="1539240"/>
            <a:ext cx="4205605" cy="2576195"/>
          </a:xfrm>
          <a:prstGeom prst="rect">
            <a:avLst/>
          </a:prstGeom>
        </p:spPr>
      </p:pic>
      <p:pic>
        <p:nvPicPr>
          <p:cNvPr id="16" name="Picture 15" descr="prediction_result"/>
          <p:cNvPicPr>
            <a:picLocks noChangeAspect="1"/>
          </p:cNvPicPr>
          <p:nvPr/>
        </p:nvPicPr>
        <p:blipFill>
          <a:blip r:embed="rId2"/>
          <a:stretch>
            <a:fillRect/>
          </a:stretch>
        </p:blipFill>
        <p:spPr>
          <a:xfrm>
            <a:off x="4717415" y="1531620"/>
            <a:ext cx="4197985" cy="2584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C4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Insights &amp; Business Impact</a:t>
            </a:r>
            <a:endParaRPr lang="en-US" sz="2400" dirty="0"/>
          </a:p>
        </p:txBody>
      </p:sp>
      <p:sp>
        <p:nvSpPr>
          <p:cNvPr id="3" name="Text 1"/>
          <p:cNvSpPr/>
          <p:nvPr/>
        </p:nvSpPr>
        <p:spPr>
          <a:xfrm>
            <a:off x="457200" y="749808"/>
            <a:ext cx="8229600" cy="32004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What we found and why it matters</a:t>
            </a:r>
            <a:endParaRPr lang="en-US" sz="1300" dirty="0"/>
          </a:p>
        </p:txBody>
      </p:sp>
      <p:sp>
        <p:nvSpPr>
          <p:cNvPr id="4" name="Shape 2"/>
          <p:cNvSpPr/>
          <p:nvPr/>
        </p:nvSpPr>
        <p:spPr>
          <a:xfrm>
            <a:off x="274320" y="1188720"/>
            <a:ext cx="4114800" cy="3749040"/>
          </a:xfrm>
          <a:prstGeom prst="rect">
            <a:avLst/>
          </a:prstGeom>
          <a:solidFill>
            <a:srgbClr val="1E2761"/>
          </a:solidFill>
          <a:effectLst>
            <a:outerShdw blurRad="101600" dist="25400" dir="8100000" algn="bl" rotWithShape="0">
              <a:srgbClr val="000000">
                <a:alpha val="12000"/>
              </a:srgbClr>
            </a:outerShdw>
          </a:effectLst>
        </p:spPr>
      </p:sp>
      <p:sp>
        <p:nvSpPr>
          <p:cNvPr id="5" name="Shape 3"/>
          <p:cNvSpPr/>
          <p:nvPr/>
        </p:nvSpPr>
        <p:spPr>
          <a:xfrm>
            <a:off x="274320" y="1188720"/>
            <a:ext cx="4114800" cy="54864"/>
          </a:xfrm>
          <a:prstGeom prst="rect">
            <a:avLst/>
          </a:prstGeom>
          <a:solidFill>
            <a:srgbClr val="F5A623"/>
          </a:solidFill>
        </p:spPr>
      </p:sp>
      <p:sp>
        <p:nvSpPr>
          <p:cNvPr id="6" name="Text 4"/>
          <p:cNvSpPr/>
          <p:nvPr/>
        </p:nvSpPr>
        <p:spPr>
          <a:xfrm>
            <a:off x="411480" y="1261872"/>
            <a:ext cx="3840480" cy="384048"/>
          </a:xfrm>
          <a:prstGeom prst="rect">
            <a:avLst/>
          </a:prstGeom>
          <a:noFill/>
        </p:spPr>
        <p:txBody>
          <a:bodyPr wrap="square" lIns="0" tIns="0" rIns="0" bIns="0" rtlCol="0" anchor="ctr"/>
          <a:lstStyle/>
          <a:p>
            <a:pPr marL="0" indent="0">
              <a:buNone/>
            </a:pPr>
            <a:r>
              <a:rPr lang="en-US" sz="1300" b="1" dirty="0">
                <a:solidFill>
                  <a:srgbClr val="F5A623"/>
                </a:solidFill>
                <a:latin typeface="Calibri" panose="020F0502020204030204" pitchFamily="34" charset="0"/>
                <a:ea typeface="Calibri" panose="020F0502020204030204" pitchFamily="34" charset="-122"/>
                <a:cs typeface="Calibri" panose="020F0502020204030204" pitchFamily="34" charset="-120"/>
              </a:rPr>
              <a:t>📊  Key Findings</a:t>
            </a:r>
            <a:endParaRPr lang="en-US" sz="1300" dirty="0"/>
          </a:p>
        </p:txBody>
      </p:sp>
      <p:sp>
        <p:nvSpPr>
          <p:cNvPr id="7" name="Text 5"/>
          <p:cNvSpPr/>
          <p:nvPr/>
        </p:nvSpPr>
        <p:spPr>
          <a:xfrm>
            <a:off x="411480" y="1719072"/>
            <a:ext cx="3840480" cy="3017520"/>
          </a:xfrm>
          <a:prstGeom prst="rect">
            <a:avLst/>
          </a:prstGeom>
          <a:noFill/>
        </p:spPr>
        <p:txBody>
          <a:bodyPr wrap="square" lIns="0" tIns="0" rIns="0" bIns="0" rtlCol="0" anchor="ctr"/>
          <a:lstStyle/>
          <a:p>
            <a:pPr marL="342900" indent="-342900">
              <a:buSzPct val="100000"/>
              <a:buChar char="•"/>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CIBIL Score is the strongest single predictor of loan approval</a:t>
            </a:r>
            <a:endParaRPr lang="en-US" sz="1050" dirty="0"/>
          </a:p>
          <a:p>
            <a:pPr marL="342900" indent="-342900">
              <a:buSzPct val="100000"/>
              <a:buChar char="•"/>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 annual income significantly improves approval chances</a:t>
            </a:r>
            <a:endParaRPr lang="en-US" sz="1050" dirty="0"/>
          </a:p>
          <a:p>
            <a:pPr marL="342900" indent="-342900">
              <a:buSzPct val="100000"/>
              <a:buChar char="•"/>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Asset holdings (residential, bank) act as strong collateral signals</a:t>
            </a:r>
            <a:endParaRPr lang="en-US" sz="1050" dirty="0"/>
          </a:p>
          <a:p>
            <a:pPr marL="342900" indent="-342900">
              <a:buSzPct val="100000"/>
              <a:buChar char="•"/>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Ensemble models (RF, XGBoost) outperform single classifiers</a:t>
            </a:r>
            <a:endParaRPr lang="en-US" sz="1050" dirty="0"/>
          </a:p>
          <a:p>
            <a:pPr marL="342900" indent="-342900">
              <a:buSzPct val="100000"/>
              <a:buChar char="•"/>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Education and employment have secondary but measurable influence</a:t>
            </a:r>
            <a:endParaRPr lang="en-US" sz="1050" dirty="0"/>
          </a:p>
        </p:txBody>
      </p:sp>
      <p:sp>
        <p:nvSpPr>
          <p:cNvPr id="8" name="Shape 6"/>
          <p:cNvSpPr/>
          <p:nvPr/>
        </p:nvSpPr>
        <p:spPr>
          <a:xfrm>
            <a:off x="4663440" y="1188720"/>
            <a:ext cx="4114800" cy="3749040"/>
          </a:xfrm>
          <a:prstGeom prst="rect">
            <a:avLst/>
          </a:prstGeom>
          <a:solidFill>
            <a:srgbClr val="1E2761"/>
          </a:solidFill>
          <a:effectLst>
            <a:outerShdw blurRad="101600" dist="25400" dir="8100000" algn="bl" rotWithShape="0">
              <a:srgbClr val="000000">
                <a:alpha val="12000"/>
              </a:srgbClr>
            </a:outerShdw>
          </a:effectLst>
        </p:spPr>
      </p:sp>
      <p:sp>
        <p:nvSpPr>
          <p:cNvPr id="9" name="Shape 7"/>
          <p:cNvSpPr/>
          <p:nvPr/>
        </p:nvSpPr>
        <p:spPr>
          <a:xfrm>
            <a:off x="4663440" y="1188720"/>
            <a:ext cx="4114800" cy="54864"/>
          </a:xfrm>
          <a:prstGeom prst="rect">
            <a:avLst/>
          </a:prstGeom>
          <a:solidFill>
            <a:srgbClr val="0891B2"/>
          </a:solidFill>
        </p:spPr>
      </p:sp>
      <p:sp>
        <p:nvSpPr>
          <p:cNvPr id="10" name="Text 8"/>
          <p:cNvSpPr/>
          <p:nvPr/>
        </p:nvSpPr>
        <p:spPr>
          <a:xfrm>
            <a:off x="4800600" y="1261872"/>
            <a:ext cx="3840480" cy="384048"/>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  Business Impact</a:t>
            </a:r>
            <a:endParaRPr lang="en-US" sz="1300" dirty="0"/>
          </a:p>
        </p:txBody>
      </p:sp>
      <p:sp>
        <p:nvSpPr>
          <p:cNvPr id="11" name="Text 9"/>
          <p:cNvSpPr/>
          <p:nvPr/>
        </p:nvSpPr>
        <p:spPr>
          <a:xfrm>
            <a:off x="4800600" y="1755648"/>
            <a:ext cx="384048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Faster Decisions</a:t>
            </a:r>
            <a:endParaRPr lang="en-US" sz="1200" dirty="0"/>
          </a:p>
        </p:txBody>
      </p:sp>
      <p:sp>
        <p:nvSpPr>
          <p:cNvPr id="12" name="Text 10"/>
          <p:cNvSpPr/>
          <p:nvPr/>
        </p:nvSpPr>
        <p:spPr>
          <a:xfrm>
            <a:off x="4983480" y="2057400"/>
            <a:ext cx="3657600" cy="274320"/>
          </a:xfrm>
          <a:prstGeom prst="rect">
            <a:avLst/>
          </a:prstGeom>
          <a:noFill/>
        </p:spPr>
        <p:txBody>
          <a:bodyPr wrap="square" lIns="0" tIns="0" rIns="0" bIns="0" rtlCol="0" anchor="ctr"/>
          <a:lstStyle/>
          <a:p>
            <a:pPr marL="0" indent="0">
              <a:buNone/>
            </a:pPr>
            <a:r>
              <a:rPr lang="en-US" sz="1000" dirty="0">
                <a:solidFill>
                  <a:srgbClr val="CADCFC"/>
                </a:solidFill>
                <a:latin typeface="Calibri" panose="020F0502020204030204" pitchFamily="34" charset="0"/>
                <a:ea typeface="Calibri" panose="020F0502020204030204" pitchFamily="34" charset="-122"/>
                <a:cs typeface="Calibri" panose="020F0502020204030204" pitchFamily="34" charset="-120"/>
              </a:rPr>
              <a:t>Automate approvals in milliseconds vs days</a:t>
            </a:r>
            <a:endParaRPr lang="en-US" sz="1000" dirty="0"/>
          </a:p>
        </p:txBody>
      </p:sp>
      <p:sp>
        <p:nvSpPr>
          <p:cNvPr id="13" name="Text 11"/>
          <p:cNvSpPr/>
          <p:nvPr/>
        </p:nvSpPr>
        <p:spPr>
          <a:xfrm>
            <a:off x="4800600" y="2532888"/>
            <a:ext cx="384048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Reduced Risk</a:t>
            </a:r>
            <a:endParaRPr lang="en-US" sz="1200" dirty="0"/>
          </a:p>
        </p:txBody>
      </p:sp>
      <p:sp>
        <p:nvSpPr>
          <p:cNvPr id="14" name="Text 12"/>
          <p:cNvSpPr/>
          <p:nvPr/>
        </p:nvSpPr>
        <p:spPr>
          <a:xfrm>
            <a:off x="4983480" y="2834640"/>
            <a:ext cx="3657600" cy="274320"/>
          </a:xfrm>
          <a:prstGeom prst="rect">
            <a:avLst/>
          </a:prstGeom>
          <a:noFill/>
        </p:spPr>
        <p:txBody>
          <a:bodyPr wrap="square" lIns="0" tIns="0" rIns="0" bIns="0" rtlCol="0" anchor="ctr"/>
          <a:lstStyle/>
          <a:p>
            <a:pPr marL="0" indent="0">
              <a:buNone/>
            </a:pPr>
            <a:r>
              <a:rPr lang="en-US" sz="1000" dirty="0">
                <a:solidFill>
                  <a:srgbClr val="CADCFC"/>
                </a:solidFill>
                <a:latin typeface="Calibri" panose="020F0502020204030204" pitchFamily="34" charset="0"/>
                <a:ea typeface="Calibri" panose="020F0502020204030204" pitchFamily="34" charset="-122"/>
                <a:cs typeface="Calibri" panose="020F0502020204030204" pitchFamily="34" charset="-120"/>
              </a:rPr>
              <a:t>Data-driven decisions reduce default rates</a:t>
            </a:r>
            <a:endParaRPr lang="en-US" sz="1000" dirty="0"/>
          </a:p>
        </p:txBody>
      </p:sp>
      <p:sp>
        <p:nvSpPr>
          <p:cNvPr id="15" name="Text 13"/>
          <p:cNvSpPr/>
          <p:nvPr/>
        </p:nvSpPr>
        <p:spPr>
          <a:xfrm>
            <a:off x="4800600" y="3310128"/>
            <a:ext cx="384048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Better CX</a:t>
            </a:r>
            <a:endParaRPr lang="en-US" sz="1200" dirty="0"/>
          </a:p>
        </p:txBody>
      </p:sp>
      <p:sp>
        <p:nvSpPr>
          <p:cNvPr id="16" name="Text 14"/>
          <p:cNvSpPr/>
          <p:nvPr/>
        </p:nvSpPr>
        <p:spPr>
          <a:xfrm>
            <a:off x="4983480" y="3611880"/>
            <a:ext cx="3657600" cy="274320"/>
          </a:xfrm>
          <a:prstGeom prst="rect">
            <a:avLst/>
          </a:prstGeom>
          <a:noFill/>
        </p:spPr>
        <p:txBody>
          <a:bodyPr wrap="square" lIns="0" tIns="0" rIns="0" bIns="0" rtlCol="0" anchor="ctr"/>
          <a:lstStyle/>
          <a:p>
            <a:pPr marL="0" indent="0">
              <a:buNone/>
            </a:pPr>
            <a:r>
              <a:rPr lang="en-US" sz="1000" dirty="0">
                <a:solidFill>
                  <a:srgbClr val="CADCFC"/>
                </a:solidFill>
                <a:latin typeface="Calibri" panose="020F0502020204030204" pitchFamily="34" charset="0"/>
                <a:ea typeface="Calibri" panose="020F0502020204030204" pitchFamily="34" charset="-122"/>
                <a:cs typeface="Calibri" panose="020F0502020204030204" pitchFamily="34" charset="-120"/>
              </a:rPr>
              <a:t>Instant responses improve customer experience</a:t>
            </a:r>
            <a:endParaRPr lang="en-US" sz="1000" dirty="0"/>
          </a:p>
        </p:txBody>
      </p:sp>
      <p:sp>
        <p:nvSpPr>
          <p:cNvPr id="17" name="Text 15"/>
          <p:cNvSpPr/>
          <p:nvPr/>
        </p:nvSpPr>
        <p:spPr>
          <a:xfrm>
            <a:off x="4800600" y="4087368"/>
            <a:ext cx="3840480" cy="320040"/>
          </a:xfrm>
          <a:prstGeom prst="rect">
            <a:avLst/>
          </a:prstGeom>
          <a:noFill/>
        </p:spPr>
        <p:txBody>
          <a:bodyPr wrap="square" lIns="0" tIns="0" rIns="0" bIns="0"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Scalability</a:t>
            </a:r>
            <a:endParaRPr lang="en-US" sz="1200" dirty="0"/>
          </a:p>
        </p:txBody>
      </p:sp>
      <p:sp>
        <p:nvSpPr>
          <p:cNvPr id="18" name="Text 16"/>
          <p:cNvSpPr/>
          <p:nvPr/>
        </p:nvSpPr>
        <p:spPr>
          <a:xfrm>
            <a:off x="4983480" y="4389120"/>
            <a:ext cx="3657600" cy="274320"/>
          </a:xfrm>
          <a:prstGeom prst="rect">
            <a:avLst/>
          </a:prstGeom>
          <a:noFill/>
        </p:spPr>
        <p:txBody>
          <a:bodyPr wrap="square" lIns="0" tIns="0" rIns="0" bIns="0" rtlCol="0" anchor="ctr"/>
          <a:lstStyle/>
          <a:p>
            <a:pPr marL="0" indent="0">
              <a:buNone/>
            </a:pPr>
            <a:r>
              <a:rPr lang="en-US" sz="1000" dirty="0">
                <a:solidFill>
                  <a:srgbClr val="CADCFC"/>
                </a:solidFill>
                <a:latin typeface="Calibri" panose="020F0502020204030204" pitchFamily="34" charset="0"/>
                <a:ea typeface="Calibri" panose="020F0502020204030204" pitchFamily="34" charset="-122"/>
                <a:cs typeface="Calibri" panose="020F0502020204030204" pitchFamily="34" charset="-120"/>
              </a:rPr>
              <a:t>Process thousands of applications simultaneously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p:spPr>
      </p:sp>
      <p:sp>
        <p:nvSpPr>
          <p:cNvPr id="3" name="Text 1"/>
          <p:cNvSpPr/>
          <p:nvPr/>
        </p:nvSpPr>
        <p:spPr>
          <a:xfrm>
            <a:off x="457200" y="182880"/>
            <a:ext cx="8229600" cy="64008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 &amp; Future Improvements</a:t>
            </a:r>
            <a:endParaRPr lang="en-US" sz="2400" dirty="0"/>
          </a:p>
        </p:txBody>
      </p:sp>
      <p:sp>
        <p:nvSpPr>
          <p:cNvPr id="4" name="Shape 2"/>
          <p:cNvSpPr/>
          <p:nvPr/>
        </p:nvSpPr>
        <p:spPr>
          <a:xfrm>
            <a:off x="274320" y="1097280"/>
            <a:ext cx="4114800" cy="3383280"/>
          </a:xfrm>
          <a:prstGeom prst="rect">
            <a:avLst/>
          </a:prstGeom>
          <a:solidFill>
            <a:srgbClr val="F1F4F9"/>
          </a:solidFill>
          <a:effectLst>
            <a:outerShdw blurRad="101600" dist="25400" dir="8100000" algn="bl" rotWithShape="0">
              <a:srgbClr val="000000">
                <a:alpha val="12000"/>
              </a:srgbClr>
            </a:outerShdw>
          </a:effectLst>
        </p:spPr>
      </p:sp>
      <p:sp>
        <p:nvSpPr>
          <p:cNvPr id="5" name="Shape 3"/>
          <p:cNvSpPr/>
          <p:nvPr/>
        </p:nvSpPr>
        <p:spPr>
          <a:xfrm>
            <a:off x="274320" y="1097280"/>
            <a:ext cx="4114800" cy="54864"/>
          </a:xfrm>
          <a:prstGeom prst="rect">
            <a:avLst/>
          </a:prstGeom>
          <a:solidFill>
            <a:srgbClr val="1E2761"/>
          </a:solidFill>
        </p:spPr>
      </p:sp>
      <p:sp>
        <p:nvSpPr>
          <p:cNvPr id="6" name="Text 4"/>
          <p:cNvSpPr/>
          <p:nvPr/>
        </p:nvSpPr>
        <p:spPr>
          <a:xfrm>
            <a:off x="411480" y="1170432"/>
            <a:ext cx="3840480" cy="384048"/>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  Conclusion</a:t>
            </a:r>
            <a:endParaRPr lang="en-US" sz="1300" dirty="0"/>
          </a:p>
        </p:txBody>
      </p:sp>
      <p:sp>
        <p:nvSpPr>
          <p:cNvPr id="7" name="Text 5"/>
          <p:cNvSpPr/>
          <p:nvPr/>
        </p:nvSpPr>
        <p:spPr>
          <a:xfrm>
            <a:off x="411480" y="1627632"/>
            <a:ext cx="3840480" cy="2651760"/>
          </a:xfrm>
          <a:prstGeom prst="rect">
            <a:avLst/>
          </a:prstGeom>
          <a:noFill/>
        </p:spPr>
        <p:txBody>
          <a:bodyPr wrap="square" lIns="0" tIns="0" rIns="0" bIns="0" rtlCol="0" anchor="ctr"/>
          <a:lstStyle/>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Built a complete end-to-end ML pipeline for loan approval prediction</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Successfully trained and compared 5 classification models</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Identified CIBIL Score &amp; Income as critical approval factors</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Deployed an interactive Streamlit prediction application</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Achieved strong accuracy with ensemble-based models</a:t>
            </a:r>
            <a:endParaRPr lang="en-US" sz="1050" dirty="0"/>
          </a:p>
        </p:txBody>
      </p:sp>
      <p:sp>
        <p:nvSpPr>
          <p:cNvPr id="8" name="Shape 6"/>
          <p:cNvSpPr/>
          <p:nvPr/>
        </p:nvSpPr>
        <p:spPr>
          <a:xfrm>
            <a:off x="4663440" y="1097280"/>
            <a:ext cx="4114800" cy="3383280"/>
          </a:xfrm>
          <a:prstGeom prst="rect">
            <a:avLst/>
          </a:prstGeom>
          <a:solidFill>
            <a:srgbClr val="F1F4F9"/>
          </a:solidFill>
          <a:effectLst>
            <a:outerShdw blurRad="101600" dist="25400" dir="8100000" algn="bl" rotWithShape="0">
              <a:srgbClr val="000000">
                <a:alpha val="12000"/>
              </a:srgbClr>
            </a:outerShdw>
          </a:effectLst>
        </p:spPr>
      </p:sp>
      <p:sp>
        <p:nvSpPr>
          <p:cNvPr id="9" name="Shape 7"/>
          <p:cNvSpPr/>
          <p:nvPr/>
        </p:nvSpPr>
        <p:spPr>
          <a:xfrm>
            <a:off x="4663440" y="1097280"/>
            <a:ext cx="4114800" cy="54864"/>
          </a:xfrm>
          <a:prstGeom prst="rect">
            <a:avLst/>
          </a:prstGeom>
          <a:solidFill>
            <a:srgbClr val="0891B2"/>
          </a:solidFill>
        </p:spPr>
      </p:sp>
      <p:sp>
        <p:nvSpPr>
          <p:cNvPr id="10" name="Text 8"/>
          <p:cNvSpPr/>
          <p:nvPr/>
        </p:nvSpPr>
        <p:spPr>
          <a:xfrm>
            <a:off x="4800600" y="1170432"/>
            <a:ext cx="3840480" cy="384048"/>
          </a:xfrm>
          <a:prstGeom prst="rect">
            <a:avLst/>
          </a:prstGeom>
          <a:noFill/>
        </p:spPr>
        <p:txBody>
          <a:bodyPr wrap="square" lIns="0" tIns="0" rIns="0" bIns="0" rtlCol="0" anchor="ctr"/>
          <a:lstStyle/>
          <a:p>
            <a:pPr marL="0" indent="0">
              <a:buNone/>
            </a:pPr>
            <a:r>
              <a:rPr lang="en-US" sz="1300" b="1" dirty="0">
                <a:solidFill>
                  <a:srgbClr val="0891B2"/>
                </a:solidFill>
                <a:latin typeface="Calibri" panose="020F0502020204030204" pitchFamily="34" charset="0"/>
                <a:ea typeface="Calibri" panose="020F0502020204030204" pitchFamily="34" charset="-122"/>
                <a:cs typeface="Calibri" panose="020F0502020204030204" pitchFamily="34" charset="-120"/>
              </a:rPr>
              <a:t>🚀  Future Improvements</a:t>
            </a:r>
            <a:endParaRPr lang="en-US" sz="1300" dirty="0"/>
          </a:p>
        </p:txBody>
      </p:sp>
      <p:sp>
        <p:nvSpPr>
          <p:cNvPr id="11" name="Text 9"/>
          <p:cNvSpPr/>
          <p:nvPr/>
        </p:nvSpPr>
        <p:spPr>
          <a:xfrm>
            <a:off x="4800600" y="1627632"/>
            <a:ext cx="3840480" cy="2651760"/>
          </a:xfrm>
          <a:prstGeom prst="rect">
            <a:avLst/>
          </a:prstGeom>
          <a:noFill/>
        </p:spPr>
        <p:txBody>
          <a:bodyPr wrap="square" lIns="0" tIns="0" rIns="0" bIns="0" rtlCol="0" anchor="ctr"/>
          <a:lstStyle/>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Hyperparameter Tuning (GridSearchCV, Optuna)</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SMOTE for Class Imbalance handling</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SHAP Values for model explainability</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Cloud Deployment (Streamlit Cloud / AWS)</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Neural Network models for comparison</a:t>
            </a:r>
            <a:endParaRPr lang="en-US" sz="1050" dirty="0"/>
          </a:p>
          <a:p>
            <a:pPr marL="342900" indent="-342900">
              <a:buSzPct val="100000"/>
              <a:buChar char="•"/>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Real-time data pipeline integration</a:t>
            </a:r>
            <a:endParaRPr lang="en-US" sz="1050" dirty="0"/>
          </a:p>
        </p:txBody>
      </p:sp>
      <p:sp>
        <p:nvSpPr>
          <p:cNvPr id="12" name="Shape 10"/>
          <p:cNvSpPr/>
          <p:nvPr/>
        </p:nvSpPr>
        <p:spPr>
          <a:xfrm>
            <a:off x="0" y="4590288"/>
            <a:ext cx="9144000" cy="548640"/>
          </a:xfrm>
          <a:prstGeom prst="rect">
            <a:avLst/>
          </a:prstGeom>
          <a:solidFill>
            <a:srgbClr val="1E2761"/>
          </a:solidFill>
        </p:spPr>
      </p:sp>
      <p:sp>
        <p:nvSpPr>
          <p:cNvPr id="13" name="Text 11"/>
          <p:cNvSpPr/>
          <p:nvPr/>
        </p:nvSpPr>
        <p:spPr>
          <a:xfrm>
            <a:off x="0" y="4590288"/>
            <a:ext cx="9144000" cy="548640"/>
          </a:xfrm>
          <a:prstGeom prst="rect">
            <a:avLst/>
          </a:prstGeom>
          <a:noFill/>
        </p:spPr>
        <p:txBody>
          <a:bodyPr wrap="square" lIns="0" tIns="0" rIns="0" bIns="0" rtlCol="0" anchor="ctr"/>
          <a:lstStyle/>
          <a:p>
            <a:pPr marL="0" indent="0" algn="ctr">
              <a:buNone/>
            </a:pPr>
            <a:r>
              <a:rPr lang="en-US" sz="1400" b="1" dirty="0">
                <a:solidFill>
                  <a:srgbClr val="F5A623"/>
                </a:solidFill>
                <a:latin typeface="Calibri" panose="020F0502020204030204" pitchFamily="34" charset="0"/>
                <a:ea typeface="Calibri" panose="020F0502020204030204" pitchFamily="34" charset="-122"/>
                <a:cs typeface="Calibri" panose="020F0502020204030204" pitchFamily="34" charset="-120"/>
              </a:rPr>
              <a:t>Thank You  |  Questions &amp; Discussion  |  Parth Sharma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5222</Words>
  <Application>WPS Presentation</Application>
  <PresentationFormat>On-screen Show (16:9)</PresentationFormat>
  <Paragraphs>467</Paragraphs>
  <Slides>12</Slides>
  <Notes>12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Parth Sharma</cp:lastModifiedBy>
  <cp:revision>2</cp:revision>
  <dcterms:created xsi:type="dcterms:W3CDTF">2026-06-02T03:34:00Z</dcterms:created>
  <dcterms:modified xsi:type="dcterms:W3CDTF">2026-06-02T03:41:57Z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C6063ED3EE4044D4956620270AB6E8E0_12</vt:lpwstr>
  </property>
  <property fmtid="{D5CDD505-2E9C-101B-9397-08002B2CF9AE}" pid="3" name="KSOProductBuildVer">
    <vt:lpwstr>1033-12.1.0.26880</vt:lpwstr>
  </property>
</Properties>
</file>